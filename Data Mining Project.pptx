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67" r:id="rId4"/>
    <p:sldId id="268" r:id="rId5"/>
    <p:sldId id="269" r:id="rId6"/>
    <p:sldId id="270" r:id="rId7"/>
    <p:sldId id="278" r:id="rId8"/>
    <p:sldId id="271" r:id="rId9"/>
    <p:sldId id="259" r:id="rId10"/>
    <p:sldId id="260" r:id="rId11"/>
    <p:sldId id="261" r:id="rId12"/>
    <p:sldId id="262" r:id="rId13"/>
    <p:sldId id="263" r:id="rId14"/>
    <p:sldId id="264" r:id="rId15"/>
    <p:sldId id="265" r:id="rId16"/>
    <p:sldId id="272" r:id="rId17"/>
    <p:sldId id="276" r:id="rId18"/>
    <p:sldId id="273" r:id="rId19"/>
    <p:sldId id="274" r:id="rId20"/>
    <p:sldId id="275" r:id="rId21"/>
    <p:sldId id="277" r:id="rId22"/>
    <p:sldId id="266"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E01AAB-8D52-4031-86E6-17BE993079A8}" v="727" dt="2023-05-16T23:33:55.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3" d="100"/>
          <a:sy n="93" d="100"/>
        </p:scale>
        <p:origin x="77"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3" Type="http://schemas.openxmlformats.org/officeDocument/2006/relationships/hyperlink" Target="https://www.youtube.com/" TargetMode="External"/><Relationship Id="rId2" Type="http://schemas.openxmlformats.org/officeDocument/2006/relationships/hyperlink" Target="https://www.start.umd.edu/gtd/" TargetMode="External"/><Relationship Id="rId1" Type="http://schemas.openxmlformats.org/officeDocument/2006/relationships/hyperlink" Target="https://www.kaggle.com/" TargetMode="External"/></Relationships>
</file>

<file path=ppt/diagrams/_rels/drawing3.xml.rels><?xml version="1.0" encoding="UTF-8" standalone="yes"?>
<Relationships xmlns="http://schemas.openxmlformats.org/package/2006/relationships"><Relationship Id="rId3" Type="http://schemas.openxmlformats.org/officeDocument/2006/relationships/hyperlink" Target="https://www.youtube.com/" TargetMode="External"/><Relationship Id="rId2" Type="http://schemas.openxmlformats.org/officeDocument/2006/relationships/hyperlink" Target="https://www.start.umd.edu/gtd/" TargetMode="External"/><Relationship Id="rId1" Type="http://schemas.openxmlformats.org/officeDocument/2006/relationships/hyperlink" Target="https://www.kaggle.com/"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F67733-1A5E-4704-A110-7D0D2671D70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5CA8C8C-92B0-4D52-894C-44A3235CDB3C}">
      <dgm:prSet/>
      <dgm:spPr/>
      <dgm:t>
        <a:bodyPr/>
        <a:lstStyle/>
        <a:p>
          <a:r>
            <a:rPr lang="en-US" b="0" i="0"/>
            <a:t>Amr Mohamed AlAlwani</a:t>
          </a:r>
          <a:endParaRPr lang="en-US"/>
        </a:p>
      </dgm:t>
    </dgm:pt>
    <dgm:pt modelId="{9923958A-2177-4131-B964-C8D6F33621EF}" type="parTrans" cxnId="{75314E7E-D4F5-4FD2-8BD6-0525D8DE07D1}">
      <dgm:prSet/>
      <dgm:spPr/>
      <dgm:t>
        <a:bodyPr/>
        <a:lstStyle/>
        <a:p>
          <a:endParaRPr lang="en-US"/>
        </a:p>
      </dgm:t>
    </dgm:pt>
    <dgm:pt modelId="{CF213E21-866A-4650-B0AC-841EA60A0061}" type="sibTrans" cxnId="{75314E7E-D4F5-4FD2-8BD6-0525D8DE07D1}">
      <dgm:prSet/>
      <dgm:spPr/>
      <dgm:t>
        <a:bodyPr/>
        <a:lstStyle/>
        <a:p>
          <a:endParaRPr lang="en-US"/>
        </a:p>
      </dgm:t>
    </dgm:pt>
    <dgm:pt modelId="{98F86F55-D962-4B46-BD84-9E4196A7F234}">
      <dgm:prSet/>
      <dgm:spPr/>
      <dgm:t>
        <a:bodyPr/>
        <a:lstStyle/>
        <a:p>
          <a:r>
            <a:rPr lang="en-US" b="0" i="0"/>
            <a:t>ID:20221367672</a:t>
          </a:r>
          <a:endParaRPr lang="en-US"/>
        </a:p>
      </dgm:t>
    </dgm:pt>
    <dgm:pt modelId="{E05E9E97-D518-470D-98D2-F26FF24D163E}" type="parTrans" cxnId="{E199296C-FF0F-49B7-BF88-B327F75AF89A}">
      <dgm:prSet/>
      <dgm:spPr/>
      <dgm:t>
        <a:bodyPr/>
        <a:lstStyle/>
        <a:p>
          <a:endParaRPr lang="en-US"/>
        </a:p>
      </dgm:t>
    </dgm:pt>
    <dgm:pt modelId="{DD52E247-7F2B-4202-ADB6-82EA9A0902B0}" type="sibTrans" cxnId="{E199296C-FF0F-49B7-BF88-B327F75AF89A}">
      <dgm:prSet/>
      <dgm:spPr/>
      <dgm:t>
        <a:bodyPr/>
        <a:lstStyle/>
        <a:p>
          <a:endParaRPr lang="en-US"/>
        </a:p>
      </dgm:t>
    </dgm:pt>
    <dgm:pt modelId="{C4289AE7-CEB4-4CAC-982B-EEB600F76CE3}">
      <dgm:prSet/>
      <dgm:spPr/>
      <dgm:t>
        <a:bodyPr/>
        <a:lstStyle/>
        <a:p>
          <a:r>
            <a:rPr lang="en-US" b="0" i="0"/>
            <a:t>Youssef Osama Hamdi</a:t>
          </a:r>
          <a:endParaRPr lang="en-US"/>
        </a:p>
      </dgm:t>
    </dgm:pt>
    <dgm:pt modelId="{2ABC34FE-B625-4A8E-BEC1-CAB29C4417C5}" type="parTrans" cxnId="{6CEBB879-7F0E-423C-BB5D-CC26DEB0E6B2}">
      <dgm:prSet/>
      <dgm:spPr/>
      <dgm:t>
        <a:bodyPr/>
        <a:lstStyle/>
        <a:p>
          <a:endParaRPr lang="en-US"/>
        </a:p>
      </dgm:t>
    </dgm:pt>
    <dgm:pt modelId="{304682B4-78CF-4BDA-A777-B52BA16D4C7F}" type="sibTrans" cxnId="{6CEBB879-7F0E-423C-BB5D-CC26DEB0E6B2}">
      <dgm:prSet/>
      <dgm:spPr/>
      <dgm:t>
        <a:bodyPr/>
        <a:lstStyle/>
        <a:p>
          <a:endParaRPr lang="en-US"/>
        </a:p>
      </dgm:t>
    </dgm:pt>
    <dgm:pt modelId="{59B52C0B-83F2-4D38-A610-9D02C7C68185}">
      <dgm:prSet/>
      <dgm:spPr/>
      <dgm:t>
        <a:bodyPr/>
        <a:lstStyle/>
        <a:p>
          <a:r>
            <a:rPr lang="en-US" b="0" i="0"/>
            <a:t>ID:20221372564</a:t>
          </a:r>
          <a:endParaRPr lang="en-US"/>
        </a:p>
      </dgm:t>
    </dgm:pt>
    <dgm:pt modelId="{3A2E4825-D737-4243-8C08-949524E87309}" type="parTrans" cxnId="{14A299D7-C5AE-4CF8-8B5F-32ECB684FB33}">
      <dgm:prSet/>
      <dgm:spPr/>
      <dgm:t>
        <a:bodyPr/>
        <a:lstStyle/>
        <a:p>
          <a:endParaRPr lang="en-US"/>
        </a:p>
      </dgm:t>
    </dgm:pt>
    <dgm:pt modelId="{E7ADB90E-78AE-4839-9938-E637CFB7B602}" type="sibTrans" cxnId="{14A299D7-C5AE-4CF8-8B5F-32ECB684FB33}">
      <dgm:prSet/>
      <dgm:spPr/>
      <dgm:t>
        <a:bodyPr/>
        <a:lstStyle/>
        <a:p>
          <a:endParaRPr lang="en-US"/>
        </a:p>
      </dgm:t>
    </dgm:pt>
    <dgm:pt modelId="{622BF857-DCB9-430F-B381-5B130E8B7275}">
      <dgm:prSet/>
      <dgm:spPr/>
      <dgm:t>
        <a:bodyPr/>
        <a:lstStyle/>
        <a:p>
          <a:r>
            <a:rPr lang="en-US" b="0" i="0"/>
            <a:t>Gaser Ezzat Abdulaziz Abu Al-Azm</a:t>
          </a:r>
          <a:endParaRPr lang="en-US"/>
        </a:p>
      </dgm:t>
    </dgm:pt>
    <dgm:pt modelId="{7BC9D8AB-4BBC-44B8-BDE8-F8B069B4A61A}" type="parTrans" cxnId="{CDCFC076-C3EB-45CB-B82F-7A9E83B436E6}">
      <dgm:prSet/>
      <dgm:spPr/>
      <dgm:t>
        <a:bodyPr/>
        <a:lstStyle/>
        <a:p>
          <a:endParaRPr lang="en-US"/>
        </a:p>
      </dgm:t>
    </dgm:pt>
    <dgm:pt modelId="{A00C00ED-A38C-436C-B4A1-509658571A77}" type="sibTrans" cxnId="{CDCFC076-C3EB-45CB-B82F-7A9E83B436E6}">
      <dgm:prSet/>
      <dgm:spPr/>
      <dgm:t>
        <a:bodyPr/>
        <a:lstStyle/>
        <a:p>
          <a:endParaRPr lang="en-US"/>
        </a:p>
      </dgm:t>
    </dgm:pt>
    <dgm:pt modelId="{8AF2DDD6-2AB2-455A-B905-FE4A04B648DC}">
      <dgm:prSet/>
      <dgm:spPr/>
      <dgm:t>
        <a:bodyPr/>
        <a:lstStyle/>
        <a:p>
          <a:r>
            <a:rPr lang="en-US" b="0" i="0"/>
            <a:t>ID:20221442258</a:t>
          </a:r>
          <a:endParaRPr lang="en-US"/>
        </a:p>
      </dgm:t>
    </dgm:pt>
    <dgm:pt modelId="{3767D202-BAAA-40A1-812C-990A1F3D52D4}" type="parTrans" cxnId="{45C3313D-E7AA-4CBC-9DC8-8D0D8D86FFF9}">
      <dgm:prSet/>
      <dgm:spPr/>
      <dgm:t>
        <a:bodyPr/>
        <a:lstStyle/>
        <a:p>
          <a:endParaRPr lang="en-US"/>
        </a:p>
      </dgm:t>
    </dgm:pt>
    <dgm:pt modelId="{B7FF7BE7-348D-4325-BBBC-5DA5EDA7672F}" type="sibTrans" cxnId="{45C3313D-E7AA-4CBC-9DC8-8D0D8D86FFF9}">
      <dgm:prSet/>
      <dgm:spPr/>
      <dgm:t>
        <a:bodyPr/>
        <a:lstStyle/>
        <a:p>
          <a:endParaRPr lang="en-US"/>
        </a:p>
      </dgm:t>
    </dgm:pt>
    <dgm:pt modelId="{F3489617-94A1-438D-8324-0828B157227A}">
      <dgm:prSet/>
      <dgm:spPr/>
      <dgm:t>
        <a:bodyPr/>
        <a:lstStyle/>
        <a:p>
          <a:r>
            <a:rPr lang="en-US" b="0" i="0"/>
            <a:t>Mahmoud Yasser Abdel Razek Rizk</a:t>
          </a:r>
          <a:endParaRPr lang="en-US"/>
        </a:p>
      </dgm:t>
    </dgm:pt>
    <dgm:pt modelId="{7A216BEF-12A9-4CC6-8359-B9503434FD63}" type="parTrans" cxnId="{C18DA414-7A12-4994-A6F0-58D3601959B9}">
      <dgm:prSet/>
      <dgm:spPr/>
      <dgm:t>
        <a:bodyPr/>
        <a:lstStyle/>
        <a:p>
          <a:endParaRPr lang="en-US"/>
        </a:p>
      </dgm:t>
    </dgm:pt>
    <dgm:pt modelId="{FB53906A-D4D2-4067-8B97-B9CAEC4074E1}" type="sibTrans" cxnId="{C18DA414-7A12-4994-A6F0-58D3601959B9}">
      <dgm:prSet/>
      <dgm:spPr/>
      <dgm:t>
        <a:bodyPr/>
        <a:lstStyle/>
        <a:p>
          <a:endParaRPr lang="en-US"/>
        </a:p>
      </dgm:t>
    </dgm:pt>
    <dgm:pt modelId="{7FB4BC40-5065-4DD1-94EA-C18CCE95727B}">
      <dgm:prSet/>
      <dgm:spPr/>
      <dgm:t>
        <a:bodyPr/>
        <a:lstStyle/>
        <a:p>
          <a:r>
            <a:rPr lang="en-US" b="0" i="0"/>
            <a:t>ID:20221372316</a:t>
          </a:r>
          <a:endParaRPr lang="en-US"/>
        </a:p>
      </dgm:t>
    </dgm:pt>
    <dgm:pt modelId="{F305F5C2-C4EA-47C5-ACDC-8174E6C48830}" type="parTrans" cxnId="{4DB3FAA5-6AB5-494F-8432-45301C1E3590}">
      <dgm:prSet/>
      <dgm:spPr/>
      <dgm:t>
        <a:bodyPr/>
        <a:lstStyle/>
        <a:p>
          <a:endParaRPr lang="en-US"/>
        </a:p>
      </dgm:t>
    </dgm:pt>
    <dgm:pt modelId="{71E7022C-B1E7-4A7E-9A52-09C2A42173DA}" type="sibTrans" cxnId="{4DB3FAA5-6AB5-494F-8432-45301C1E3590}">
      <dgm:prSet/>
      <dgm:spPr/>
      <dgm:t>
        <a:bodyPr/>
        <a:lstStyle/>
        <a:p>
          <a:endParaRPr lang="en-US"/>
        </a:p>
      </dgm:t>
    </dgm:pt>
    <dgm:pt modelId="{65B8A0F9-FE0E-4D72-9CE3-AF0AE477B053}">
      <dgm:prSet/>
      <dgm:spPr/>
      <dgm:t>
        <a:bodyPr/>
        <a:lstStyle/>
        <a:p>
          <a:r>
            <a:rPr lang="en-US" b="0" i="0"/>
            <a:t>Muhammad Ibrahim Al-Sayed Nofal</a:t>
          </a:r>
          <a:endParaRPr lang="en-US"/>
        </a:p>
      </dgm:t>
    </dgm:pt>
    <dgm:pt modelId="{0D7D8C46-65F1-468E-9576-AA4412E4041A}" type="parTrans" cxnId="{F4E4E94D-E633-4056-A799-EA93A707F025}">
      <dgm:prSet/>
      <dgm:spPr/>
      <dgm:t>
        <a:bodyPr/>
        <a:lstStyle/>
        <a:p>
          <a:endParaRPr lang="en-US"/>
        </a:p>
      </dgm:t>
    </dgm:pt>
    <dgm:pt modelId="{2070B362-8454-4CE4-883E-C344C3A63CEE}" type="sibTrans" cxnId="{F4E4E94D-E633-4056-A799-EA93A707F025}">
      <dgm:prSet/>
      <dgm:spPr/>
      <dgm:t>
        <a:bodyPr/>
        <a:lstStyle/>
        <a:p>
          <a:endParaRPr lang="en-US"/>
        </a:p>
      </dgm:t>
    </dgm:pt>
    <dgm:pt modelId="{39A3498F-DC63-4891-ABCB-8FA072D645D5}">
      <dgm:prSet/>
      <dgm:spPr/>
      <dgm:t>
        <a:bodyPr/>
        <a:lstStyle/>
        <a:p>
          <a:r>
            <a:rPr lang="en-US" b="0" i="0"/>
            <a:t>ID:20221367676</a:t>
          </a:r>
          <a:endParaRPr lang="en-US"/>
        </a:p>
      </dgm:t>
    </dgm:pt>
    <dgm:pt modelId="{CE13EF0C-49FF-4BD3-ADFE-B12679B8B42A}" type="parTrans" cxnId="{53C7C810-F375-4DEC-A373-C10928128175}">
      <dgm:prSet/>
      <dgm:spPr/>
      <dgm:t>
        <a:bodyPr/>
        <a:lstStyle/>
        <a:p>
          <a:endParaRPr lang="en-US"/>
        </a:p>
      </dgm:t>
    </dgm:pt>
    <dgm:pt modelId="{F97F97AB-17A1-4E38-816E-00BADAB4B2F6}" type="sibTrans" cxnId="{53C7C810-F375-4DEC-A373-C10928128175}">
      <dgm:prSet/>
      <dgm:spPr/>
      <dgm:t>
        <a:bodyPr/>
        <a:lstStyle/>
        <a:p>
          <a:endParaRPr lang="en-US"/>
        </a:p>
      </dgm:t>
    </dgm:pt>
    <dgm:pt modelId="{79336671-787F-48BE-8786-A034DA382A28}" type="pres">
      <dgm:prSet presAssocID="{7AF67733-1A5E-4704-A110-7D0D2671D70E}" presName="linear" presStyleCnt="0">
        <dgm:presLayoutVars>
          <dgm:animLvl val="lvl"/>
          <dgm:resizeHandles val="exact"/>
        </dgm:presLayoutVars>
      </dgm:prSet>
      <dgm:spPr/>
    </dgm:pt>
    <dgm:pt modelId="{EFDC63F9-5CBC-448D-A72B-4B25D4D15A6B}" type="pres">
      <dgm:prSet presAssocID="{55CA8C8C-92B0-4D52-894C-44A3235CDB3C}" presName="parentText" presStyleLbl="node1" presStyleIdx="0" presStyleCnt="10">
        <dgm:presLayoutVars>
          <dgm:chMax val="0"/>
          <dgm:bulletEnabled val="1"/>
        </dgm:presLayoutVars>
      </dgm:prSet>
      <dgm:spPr/>
    </dgm:pt>
    <dgm:pt modelId="{15032004-74A8-49BC-9B8D-02E8DAD482D3}" type="pres">
      <dgm:prSet presAssocID="{CF213E21-866A-4650-B0AC-841EA60A0061}" presName="spacer" presStyleCnt="0"/>
      <dgm:spPr/>
    </dgm:pt>
    <dgm:pt modelId="{1F8930E1-27C7-4ADE-AF88-39D51A7C2F96}" type="pres">
      <dgm:prSet presAssocID="{98F86F55-D962-4B46-BD84-9E4196A7F234}" presName="parentText" presStyleLbl="node1" presStyleIdx="1" presStyleCnt="10">
        <dgm:presLayoutVars>
          <dgm:chMax val="0"/>
          <dgm:bulletEnabled val="1"/>
        </dgm:presLayoutVars>
      </dgm:prSet>
      <dgm:spPr/>
    </dgm:pt>
    <dgm:pt modelId="{75D48C7D-102D-4113-8FAF-26573075A169}" type="pres">
      <dgm:prSet presAssocID="{DD52E247-7F2B-4202-ADB6-82EA9A0902B0}" presName="spacer" presStyleCnt="0"/>
      <dgm:spPr/>
    </dgm:pt>
    <dgm:pt modelId="{3B2B462C-CD9E-41CD-BDC7-2E9648FA0030}" type="pres">
      <dgm:prSet presAssocID="{C4289AE7-CEB4-4CAC-982B-EEB600F76CE3}" presName="parentText" presStyleLbl="node1" presStyleIdx="2" presStyleCnt="10">
        <dgm:presLayoutVars>
          <dgm:chMax val="0"/>
          <dgm:bulletEnabled val="1"/>
        </dgm:presLayoutVars>
      </dgm:prSet>
      <dgm:spPr/>
    </dgm:pt>
    <dgm:pt modelId="{C47C91BC-D408-460C-855A-1E4AAF73CAA9}" type="pres">
      <dgm:prSet presAssocID="{304682B4-78CF-4BDA-A777-B52BA16D4C7F}" presName="spacer" presStyleCnt="0"/>
      <dgm:spPr/>
    </dgm:pt>
    <dgm:pt modelId="{6BB75FB2-7CEB-45B4-9C71-0D03BFBBB5FF}" type="pres">
      <dgm:prSet presAssocID="{59B52C0B-83F2-4D38-A610-9D02C7C68185}" presName="parentText" presStyleLbl="node1" presStyleIdx="3" presStyleCnt="10">
        <dgm:presLayoutVars>
          <dgm:chMax val="0"/>
          <dgm:bulletEnabled val="1"/>
        </dgm:presLayoutVars>
      </dgm:prSet>
      <dgm:spPr/>
    </dgm:pt>
    <dgm:pt modelId="{804E5620-A3FA-43B7-8591-EA737429935E}" type="pres">
      <dgm:prSet presAssocID="{E7ADB90E-78AE-4839-9938-E637CFB7B602}" presName="spacer" presStyleCnt="0"/>
      <dgm:spPr/>
    </dgm:pt>
    <dgm:pt modelId="{D8790E84-288D-4516-898C-62E4374C0749}" type="pres">
      <dgm:prSet presAssocID="{622BF857-DCB9-430F-B381-5B130E8B7275}" presName="parentText" presStyleLbl="node1" presStyleIdx="4" presStyleCnt="10">
        <dgm:presLayoutVars>
          <dgm:chMax val="0"/>
          <dgm:bulletEnabled val="1"/>
        </dgm:presLayoutVars>
      </dgm:prSet>
      <dgm:spPr/>
    </dgm:pt>
    <dgm:pt modelId="{7C24A5DC-5475-49DC-A169-C30C2619124F}" type="pres">
      <dgm:prSet presAssocID="{A00C00ED-A38C-436C-B4A1-509658571A77}" presName="spacer" presStyleCnt="0"/>
      <dgm:spPr/>
    </dgm:pt>
    <dgm:pt modelId="{0144B087-5E0C-46DE-AE9B-13354E5B0424}" type="pres">
      <dgm:prSet presAssocID="{8AF2DDD6-2AB2-455A-B905-FE4A04B648DC}" presName="parentText" presStyleLbl="node1" presStyleIdx="5" presStyleCnt="10">
        <dgm:presLayoutVars>
          <dgm:chMax val="0"/>
          <dgm:bulletEnabled val="1"/>
        </dgm:presLayoutVars>
      </dgm:prSet>
      <dgm:spPr/>
    </dgm:pt>
    <dgm:pt modelId="{FBEDB940-531A-472D-B78A-0047E95B92D6}" type="pres">
      <dgm:prSet presAssocID="{B7FF7BE7-348D-4325-BBBC-5DA5EDA7672F}" presName="spacer" presStyleCnt="0"/>
      <dgm:spPr/>
    </dgm:pt>
    <dgm:pt modelId="{04485491-BCCD-4ED7-9FE3-9D3FE7584819}" type="pres">
      <dgm:prSet presAssocID="{F3489617-94A1-438D-8324-0828B157227A}" presName="parentText" presStyleLbl="node1" presStyleIdx="6" presStyleCnt="10">
        <dgm:presLayoutVars>
          <dgm:chMax val="0"/>
          <dgm:bulletEnabled val="1"/>
        </dgm:presLayoutVars>
      </dgm:prSet>
      <dgm:spPr/>
    </dgm:pt>
    <dgm:pt modelId="{87FB040C-83FB-48B5-9D10-87F324FA3852}" type="pres">
      <dgm:prSet presAssocID="{FB53906A-D4D2-4067-8B97-B9CAEC4074E1}" presName="spacer" presStyleCnt="0"/>
      <dgm:spPr/>
    </dgm:pt>
    <dgm:pt modelId="{6F6A9856-47B4-434D-8355-6E02FB2EB921}" type="pres">
      <dgm:prSet presAssocID="{7FB4BC40-5065-4DD1-94EA-C18CCE95727B}" presName="parentText" presStyleLbl="node1" presStyleIdx="7" presStyleCnt="10">
        <dgm:presLayoutVars>
          <dgm:chMax val="0"/>
          <dgm:bulletEnabled val="1"/>
        </dgm:presLayoutVars>
      </dgm:prSet>
      <dgm:spPr/>
    </dgm:pt>
    <dgm:pt modelId="{8057521B-60C3-4352-A60F-070AB3D8031E}" type="pres">
      <dgm:prSet presAssocID="{71E7022C-B1E7-4A7E-9A52-09C2A42173DA}" presName="spacer" presStyleCnt="0"/>
      <dgm:spPr/>
    </dgm:pt>
    <dgm:pt modelId="{B8C28C07-E8B8-4741-AC80-D0FFC48C0194}" type="pres">
      <dgm:prSet presAssocID="{65B8A0F9-FE0E-4D72-9CE3-AF0AE477B053}" presName="parentText" presStyleLbl="node1" presStyleIdx="8" presStyleCnt="10">
        <dgm:presLayoutVars>
          <dgm:chMax val="0"/>
          <dgm:bulletEnabled val="1"/>
        </dgm:presLayoutVars>
      </dgm:prSet>
      <dgm:spPr/>
    </dgm:pt>
    <dgm:pt modelId="{50B517E2-EEA7-47FB-9735-61848EC86494}" type="pres">
      <dgm:prSet presAssocID="{2070B362-8454-4CE4-883E-C344C3A63CEE}" presName="spacer" presStyleCnt="0"/>
      <dgm:spPr/>
    </dgm:pt>
    <dgm:pt modelId="{3386F113-BD35-4D75-95D7-09F05957E8DE}" type="pres">
      <dgm:prSet presAssocID="{39A3498F-DC63-4891-ABCB-8FA072D645D5}" presName="parentText" presStyleLbl="node1" presStyleIdx="9" presStyleCnt="10">
        <dgm:presLayoutVars>
          <dgm:chMax val="0"/>
          <dgm:bulletEnabled val="1"/>
        </dgm:presLayoutVars>
      </dgm:prSet>
      <dgm:spPr/>
    </dgm:pt>
  </dgm:ptLst>
  <dgm:cxnLst>
    <dgm:cxn modelId="{EE48620C-E30D-4955-AED1-EFAB7F6CD410}" type="presOf" srcId="{7FB4BC40-5065-4DD1-94EA-C18CCE95727B}" destId="{6F6A9856-47B4-434D-8355-6E02FB2EB921}" srcOrd="0" destOrd="0" presId="urn:microsoft.com/office/officeart/2005/8/layout/vList2"/>
    <dgm:cxn modelId="{53C7C810-F375-4DEC-A373-C10928128175}" srcId="{7AF67733-1A5E-4704-A110-7D0D2671D70E}" destId="{39A3498F-DC63-4891-ABCB-8FA072D645D5}" srcOrd="9" destOrd="0" parTransId="{CE13EF0C-49FF-4BD3-ADFE-B12679B8B42A}" sibTransId="{F97F97AB-17A1-4E38-816E-00BADAB4B2F6}"/>
    <dgm:cxn modelId="{C18DA414-7A12-4994-A6F0-58D3601959B9}" srcId="{7AF67733-1A5E-4704-A110-7D0D2671D70E}" destId="{F3489617-94A1-438D-8324-0828B157227A}" srcOrd="6" destOrd="0" parTransId="{7A216BEF-12A9-4CC6-8359-B9503434FD63}" sibTransId="{FB53906A-D4D2-4067-8B97-B9CAEC4074E1}"/>
    <dgm:cxn modelId="{C294BA28-ACEE-4634-8FDA-7B1F0B156A92}" type="presOf" srcId="{59B52C0B-83F2-4D38-A610-9D02C7C68185}" destId="{6BB75FB2-7CEB-45B4-9C71-0D03BFBBB5FF}" srcOrd="0" destOrd="0" presId="urn:microsoft.com/office/officeart/2005/8/layout/vList2"/>
    <dgm:cxn modelId="{5C987C2A-FE28-4869-AFB7-9952597E5492}" type="presOf" srcId="{F3489617-94A1-438D-8324-0828B157227A}" destId="{04485491-BCCD-4ED7-9FE3-9D3FE7584819}" srcOrd="0" destOrd="0" presId="urn:microsoft.com/office/officeart/2005/8/layout/vList2"/>
    <dgm:cxn modelId="{54306E35-24F1-41A1-A084-E64E2CDC2F02}" type="presOf" srcId="{98F86F55-D962-4B46-BD84-9E4196A7F234}" destId="{1F8930E1-27C7-4ADE-AF88-39D51A7C2F96}" srcOrd="0" destOrd="0" presId="urn:microsoft.com/office/officeart/2005/8/layout/vList2"/>
    <dgm:cxn modelId="{45C3313D-E7AA-4CBC-9DC8-8D0D8D86FFF9}" srcId="{7AF67733-1A5E-4704-A110-7D0D2671D70E}" destId="{8AF2DDD6-2AB2-455A-B905-FE4A04B648DC}" srcOrd="5" destOrd="0" parTransId="{3767D202-BAAA-40A1-812C-990A1F3D52D4}" sibTransId="{B7FF7BE7-348D-4325-BBBC-5DA5EDA7672F}"/>
    <dgm:cxn modelId="{10D43863-DF6D-4718-93A0-2405718076CA}" type="presOf" srcId="{8AF2DDD6-2AB2-455A-B905-FE4A04B648DC}" destId="{0144B087-5E0C-46DE-AE9B-13354E5B0424}" srcOrd="0" destOrd="0" presId="urn:microsoft.com/office/officeart/2005/8/layout/vList2"/>
    <dgm:cxn modelId="{E199296C-FF0F-49B7-BF88-B327F75AF89A}" srcId="{7AF67733-1A5E-4704-A110-7D0D2671D70E}" destId="{98F86F55-D962-4B46-BD84-9E4196A7F234}" srcOrd="1" destOrd="0" parTransId="{E05E9E97-D518-470D-98D2-F26FF24D163E}" sibTransId="{DD52E247-7F2B-4202-ADB6-82EA9A0902B0}"/>
    <dgm:cxn modelId="{F4E4E94D-E633-4056-A799-EA93A707F025}" srcId="{7AF67733-1A5E-4704-A110-7D0D2671D70E}" destId="{65B8A0F9-FE0E-4D72-9CE3-AF0AE477B053}" srcOrd="8" destOrd="0" parTransId="{0D7D8C46-65F1-468E-9576-AA4412E4041A}" sibTransId="{2070B362-8454-4CE4-883E-C344C3A63CEE}"/>
    <dgm:cxn modelId="{FA517171-C609-4906-BB60-4B23C963B9B3}" type="presOf" srcId="{7AF67733-1A5E-4704-A110-7D0D2671D70E}" destId="{79336671-787F-48BE-8786-A034DA382A28}" srcOrd="0" destOrd="0" presId="urn:microsoft.com/office/officeart/2005/8/layout/vList2"/>
    <dgm:cxn modelId="{CDCFC076-C3EB-45CB-B82F-7A9E83B436E6}" srcId="{7AF67733-1A5E-4704-A110-7D0D2671D70E}" destId="{622BF857-DCB9-430F-B381-5B130E8B7275}" srcOrd="4" destOrd="0" parTransId="{7BC9D8AB-4BBC-44B8-BDE8-F8B069B4A61A}" sibTransId="{A00C00ED-A38C-436C-B4A1-509658571A77}"/>
    <dgm:cxn modelId="{6CEBB879-7F0E-423C-BB5D-CC26DEB0E6B2}" srcId="{7AF67733-1A5E-4704-A110-7D0D2671D70E}" destId="{C4289AE7-CEB4-4CAC-982B-EEB600F76CE3}" srcOrd="2" destOrd="0" parTransId="{2ABC34FE-B625-4A8E-BEC1-CAB29C4417C5}" sibTransId="{304682B4-78CF-4BDA-A777-B52BA16D4C7F}"/>
    <dgm:cxn modelId="{E7DD1D5A-EE67-493C-89EC-AA949430704D}" type="presOf" srcId="{622BF857-DCB9-430F-B381-5B130E8B7275}" destId="{D8790E84-288D-4516-898C-62E4374C0749}" srcOrd="0" destOrd="0" presId="urn:microsoft.com/office/officeart/2005/8/layout/vList2"/>
    <dgm:cxn modelId="{75314E7E-D4F5-4FD2-8BD6-0525D8DE07D1}" srcId="{7AF67733-1A5E-4704-A110-7D0D2671D70E}" destId="{55CA8C8C-92B0-4D52-894C-44A3235CDB3C}" srcOrd="0" destOrd="0" parTransId="{9923958A-2177-4131-B964-C8D6F33621EF}" sibTransId="{CF213E21-866A-4650-B0AC-841EA60A0061}"/>
    <dgm:cxn modelId="{02C7ECA3-8362-4A3C-A17F-079E2A67D964}" type="presOf" srcId="{C4289AE7-CEB4-4CAC-982B-EEB600F76CE3}" destId="{3B2B462C-CD9E-41CD-BDC7-2E9648FA0030}" srcOrd="0" destOrd="0" presId="urn:microsoft.com/office/officeart/2005/8/layout/vList2"/>
    <dgm:cxn modelId="{4DB3FAA5-6AB5-494F-8432-45301C1E3590}" srcId="{7AF67733-1A5E-4704-A110-7D0D2671D70E}" destId="{7FB4BC40-5065-4DD1-94EA-C18CCE95727B}" srcOrd="7" destOrd="0" parTransId="{F305F5C2-C4EA-47C5-ACDC-8174E6C48830}" sibTransId="{71E7022C-B1E7-4A7E-9A52-09C2A42173DA}"/>
    <dgm:cxn modelId="{14A299D7-C5AE-4CF8-8B5F-32ECB684FB33}" srcId="{7AF67733-1A5E-4704-A110-7D0D2671D70E}" destId="{59B52C0B-83F2-4D38-A610-9D02C7C68185}" srcOrd="3" destOrd="0" parTransId="{3A2E4825-D737-4243-8C08-949524E87309}" sibTransId="{E7ADB90E-78AE-4839-9938-E637CFB7B602}"/>
    <dgm:cxn modelId="{844A0DE0-581C-440C-B060-4F05B75FC0ED}" type="presOf" srcId="{65B8A0F9-FE0E-4D72-9CE3-AF0AE477B053}" destId="{B8C28C07-E8B8-4741-AC80-D0FFC48C0194}" srcOrd="0" destOrd="0" presId="urn:microsoft.com/office/officeart/2005/8/layout/vList2"/>
    <dgm:cxn modelId="{43D989E4-24D9-4A32-9F8F-0D820E2C0AD1}" type="presOf" srcId="{39A3498F-DC63-4891-ABCB-8FA072D645D5}" destId="{3386F113-BD35-4D75-95D7-09F05957E8DE}" srcOrd="0" destOrd="0" presId="urn:microsoft.com/office/officeart/2005/8/layout/vList2"/>
    <dgm:cxn modelId="{A179A8FE-5947-41BD-9187-3502B7577BF1}" type="presOf" srcId="{55CA8C8C-92B0-4D52-894C-44A3235CDB3C}" destId="{EFDC63F9-5CBC-448D-A72B-4B25D4D15A6B}" srcOrd="0" destOrd="0" presId="urn:microsoft.com/office/officeart/2005/8/layout/vList2"/>
    <dgm:cxn modelId="{ED3C4ACA-C4FB-46D7-BBCE-F445845B0738}" type="presParOf" srcId="{79336671-787F-48BE-8786-A034DA382A28}" destId="{EFDC63F9-5CBC-448D-A72B-4B25D4D15A6B}" srcOrd="0" destOrd="0" presId="urn:microsoft.com/office/officeart/2005/8/layout/vList2"/>
    <dgm:cxn modelId="{97A8D754-E56B-42D2-8ED7-0E8617F93CE5}" type="presParOf" srcId="{79336671-787F-48BE-8786-A034DA382A28}" destId="{15032004-74A8-49BC-9B8D-02E8DAD482D3}" srcOrd="1" destOrd="0" presId="urn:microsoft.com/office/officeart/2005/8/layout/vList2"/>
    <dgm:cxn modelId="{48077C89-3388-4487-8538-1A6EDE7C331C}" type="presParOf" srcId="{79336671-787F-48BE-8786-A034DA382A28}" destId="{1F8930E1-27C7-4ADE-AF88-39D51A7C2F96}" srcOrd="2" destOrd="0" presId="urn:microsoft.com/office/officeart/2005/8/layout/vList2"/>
    <dgm:cxn modelId="{450FD986-AD47-4B45-BECA-03890F862822}" type="presParOf" srcId="{79336671-787F-48BE-8786-A034DA382A28}" destId="{75D48C7D-102D-4113-8FAF-26573075A169}" srcOrd="3" destOrd="0" presId="urn:microsoft.com/office/officeart/2005/8/layout/vList2"/>
    <dgm:cxn modelId="{39635DD2-FB2B-48CC-AB42-04A2AE837E8C}" type="presParOf" srcId="{79336671-787F-48BE-8786-A034DA382A28}" destId="{3B2B462C-CD9E-41CD-BDC7-2E9648FA0030}" srcOrd="4" destOrd="0" presId="urn:microsoft.com/office/officeart/2005/8/layout/vList2"/>
    <dgm:cxn modelId="{036E748B-0014-4C82-A791-B21F4478280C}" type="presParOf" srcId="{79336671-787F-48BE-8786-A034DA382A28}" destId="{C47C91BC-D408-460C-855A-1E4AAF73CAA9}" srcOrd="5" destOrd="0" presId="urn:microsoft.com/office/officeart/2005/8/layout/vList2"/>
    <dgm:cxn modelId="{F9ED4019-9756-450A-B91F-1A5A429DCFC3}" type="presParOf" srcId="{79336671-787F-48BE-8786-A034DA382A28}" destId="{6BB75FB2-7CEB-45B4-9C71-0D03BFBBB5FF}" srcOrd="6" destOrd="0" presId="urn:microsoft.com/office/officeart/2005/8/layout/vList2"/>
    <dgm:cxn modelId="{35C6BE5D-D28A-4E6D-B231-3951A6DA518A}" type="presParOf" srcId="{79336671-787F-48BE-8786-A034DA382A28}" destId="{804E5620-A3FA-43B7-8591-EA737429935E}" srcOrd="7" destOrd="0" presId="urn:microsoft.com/office/officeart/2005/8/layout/vList2"/>
    <dgm:cxn modelId="{0FA46DB9-764A-42E6-8E0E-41C2AFDA3E9B}" type="presParOf" srcId="{79336671-787F-48BE-8786-A034DA382A28}" destId="{D8790E84-288D-4516-898C-62E4374C0749}" srcOrd="8" destOrd="0" presId="urn:microsoft.com/office/officeart/2005/8/layout/vList2"/>
    <dgm:cxn modelId="{278EC9F7-8D81-4403-AE40-B6909408C63D}" type="presParOf" srcId="{79336671-787F-48BE-8786-A034DA382A28}" destId="{7C24A5DC-5475-49DC-A169-C30C2619124F}" srcOrd="9" destOrd="0" presId="urn:microsoft.com/office/officeart/2005/8/layout/vList2"/>
    <dgm:cxn modelId="{6DCA39B0-EE25-4340-881F-C68957B84DC4}" type="presParOf" srcId="{79336671-787F-48BE-8786-A034DA382A28}" destId="{0144B087-5E0C-46DE-AE9B-13354E5B0424}" srcOrd="10" destOrd="0" presId="urn:microsoft.com/office/officeart/2005/8/layout/vList2"/>
    <dgm:cxn modelId="{362DC7E3-99E5-4734-838E-995F1829566F}" type="presParOf" srcId="{79336671-787F-48BE-8786-A034DA382A28}" destId="{FBEDB940-531A-472D-B78A-0047E95B92D6}" srcOrd="11" destOrd="0" presId="urn:microsoft.com/office/officeart/2005/8/layout/vList2"/>
    <dgm:cxn modelId="{4CA00A4B-8FAF-4D5B-A016-A6AA88B010CB}" type="presParOf" srcId="{79336671-787F-48BE-8786-A034DA382A28}" destId="{04485491-BCCD-4ED7-9FE3-9D3FE7584819}" srcOrd="12" destOrd="0" presId="urn:microsoft.com/office/officeart/2005/8/layout/vList2"/>
    <dgm:cxn modelId="{4C7DFFE4-9512-4014-AB7E-1E5C1D42FDA4}" type="presParOf" srcId="{79336671-787F-48BE-8786-A034DA382A28}" destId="{87FB040C-83FB-48B5-9D10-87F324FA3852}" srcOrd="13" destOrd="0" presId="urn:microsoft.com/office/officeart/2005/8/layout/vList2"/>
    <dgm:cxn modelId="{9E535BA7-B3B3-4D7A-8FF7-CEC5844F71D9}" type="presParOf" srcId="{79336671-787F-48BE-8786-A034DA382A28}" destId="{6F6A9856-47B4-434D-8355-6E02FB2EB921}" srcOrd="14" destOrd="0" presId="urn:microsoft.com/office/officeart/2005/8/layout/vList2"/>
    <dgm:cxn modelId="{7735A8FB-5BBA-466A-BA42-2CFBF0F02188}" type="presParOf" srcId="{79336671-787F-48BE-8786-A034DA382A28}" destId="{8057521B-60C3-4352-A60F-070AB3D8031E}" srcOrd="15" destOrd="0" presId="urn:microsoft.com/office/officeart/2005/8/layout/vList2"/>
    <dgm:cxn modelId="{EF8ED345-828E-473F-80D0-2A4E7082A98B}" type="presParOf" srcId="{79336671-787F-48BE-8786-A034DA382A28}" destId="{B8C28C07-E8B8-4741-AC80-D0FFC48C0194}" srcOrd="16" destOrd="0" presId="urn:microsoft.com/office/officeart/2005/8/layout/vList2"/>
    <dgm:cxn modelId="{FE0929CC-FA31-4CFA-ADB7-54D529BD0AF5}" type="presParOf" srcId="{79336671-787F-48BE-8786-A034DA382A28}" destId="{50B517E2-EEA7-47FB-9735-61848EC86494}" srcOrd="17" destOrd="0" presId="urn:microsoft.com/office/officeart/2005/8/layout/vList2"/>
    <dgm:cxn modelId="{057439C4-F9A3-4213-8A1D-8D85EEFEEDE6}" type="presParOf" srcId="{79336671-787F-48BE-8786-A034DA382A28}" destId="{3386F113-BD35-4D75-95D7-09F05957E8DE}"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55FC68-6227-4C2C-845A-EAB62C1ED4C7}"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2300CFB9-5540-4C95-A038-1B05E3DEA069}">
      <dgm:prSet/>
      <dgm:spPr/>
      <dgm:t>
        <a:bodyPr/>
        <a:lstStyle/>
        <a:p>
          <a:pPr>
            <a:lnSpc>
              <a:spcPct val="100000"/>
            </a:lnSpc>
          </a:pPr>
          <a:r>
            <a:rPr lang="en-US"/>
            <a:t>This Dataset Contains 180,000 row and 135 column  showing the lots of information about the </a:t>
          </a:r>
          <a:r>
            <a:rPr lang="en-US" b="1" i="0"/>
            <a:t>Evaluating and Analyzing Global Terrorism</a:t>
          </a:r>
          <a:r>
            <a:rPr lang="en-US"/>
            <a:t> </a:t>
          </a:r>
        </a:p>
      </dgm:t>
    </dgm:pt>
    <dgm:pt modelId="{77BD20B3-CD96-4EBA-BEE4-3FBC549BD944}" type="parTrans" cxnId="{11D840A3-25BD-43E3-99CB-F95C4EFAD36F}">
      <dgm:prSet/>
      <dgm:spPr/>
      <dgm:t>
        <a:bodyPr/>
        <a:lstStyle/>
        <a:p>
          <a:endParaRPr lang="en-US"/>
        </a:p>
      </dgm:t>
    </dgm:pt>
    <dgm:pt modelId="{65C475F2-5305-4D95-B198-EF5AD0E76A67}" type="sibTrans" cxnId="{11D840A3-25BD-43E3-99CB-F95C4EFAD36F}">
      <dgm:prSet/>
      <dgm:spPr/>
      <dgm:t>
        <a:bodyPr/>
        <a:lstStyle/>
        <a:p>
          <a:endParaRPr lang="en-US"/>
        </a:p>
      </dgm:t>
    </dgm:pt>
    <dgm:pt modelId="{89D4719F-99F7-446C-A31D-43185773D21E}">
      <dgm:prSet/>
      <dgm:spPr/>
      <dgm:t>
        <a:bodyPr/>
        <a:lstStyle/>
        <a:p>
          <a:pPr>
            <a:lnSpc>
              <a:spcPct val="100000"/>
            </a:lnSpc>
          </a:pPr>
          <a:r>
            <a:rPr lang="en-US" dirty="0"/>
            <a:t>during 1970 to 2017</a:t>
          </a:r>
        </a:p>
      </dgm:t>
    </dgm:pt>
    <dgm:pt modelId="{657AEACA-4B24-4506-AD0E-8DD30942492B}" type="parTrans" cxnId="{4E13A745-EEAF-4C0F-910F-B457771EC1A5}">
      <dgm:prSet/>
      <dgm:spPr/>
      <dgm:t>
        <a:bodyPr/>
        <a:lstStyle/>
        <a:p>
          <a:endParaRPr lang="en-US"/>
        </a:p>
      </dgm:t>
    </dgm:pt>
    <dgm:pt modelId="{31F13745-65E6-48C1-8A34-6466B95D237B}" type="sibTrans" cxnId="{4E13A745-EEAF-4C0F-910F-B457771EC1A5}">
      <dgm:prSet/>
      <dgm:spPr/>
      <dgm:t>
        <a:bodyPr/>
        <a:lstStyle/>
        <a:p>
          <a:endParaRPr lang="en-US"/>
        </a:p>
      </dgm:t>
    </dgm:pt>
    <dgm:pt modelId="{9496DBE3-CF52-49FD-81F2-3FD363F7DB18}" type="pres">
      <dgm:prSet presAssocID="{1655FC68-6227-4C2C-845A-EAB62C1ED4C7}" presName="Name0" presStyleCnt="0">
        <dgm:presLayoutVars>
          <dgm:dir/>
          <dgm:animLvl val="lvl"/>
          <dgm:resizeHandles val="exact"/>
        </dgm:presLayoutVars>
      </dgm:prSet>
      <dgm:spPr/>
    </dgm:pt>
    <dgm:pt modelId="{D36813FB-2E1F-4284-91DE-B97354BB28E6}" type="pres">
      <dgm:prSet presAssocID="{89D4719F-99F7-446C-A31D-43185773D21E}" presName="boxAndChildren" presStyleCnt="0"/>
      <dgm:spPr/>
    </dgm:pt>
    <dgm:pt modelId="{24F47ACD-1876-43C5-9201-669889AA2F6A}" type="pres">
      <dgm:prSet presAssocID="{89D4719F-99F7-446C-A31D-43185773D21E}" presName="parentTextBox" presStyleLbl="node1" presStyleIdx="0" presStyleCnt="2"/>
      <dgm:spPr/>
    </dgm:pt>
    <dgm:pt modelId="{112B61F4-CFA2-47A4-B13A-600CE1AA384A}" type="pres">
      <dgm:prSet presAssocID="{65C475F2-5305-4D95-B198-EF5AD0E76A67}" presName="sp" presStyleCnt="0"/>
      <dgm:spPr/>
    </dgm:pt>
    <dgm:pt modelId="{ADFDD104-EBF0-4A38-9BC6-E96FE51012E2}" type="pres">
      <dgm:prSet presAssocID="{2300CFB9-5540-4C95-A038-1B05E3DEA069}" presName="arrowAndChildren" presStyleCnt="0"/>
      <dgm:spPr/>
    </dgm:pt>
    <dgm:pt modelId="{113693E7-F4EC-47FC-B5EF-6BB1A19E1BCF}" type="pres">
      <dgm:prSet presAssocID="{2300CFB9-5540-4C95-A038-1B05E3DEA069}" presName="parentTextArrow" presStyleLbl="node1" presStyleIdx="1" presStyleCnt="2"/>
      <dgm:spPr/>
    </dgm:pt>
  </dgm:ptLst>
  <dgm:cxnLst>
    <dgm:cxn modelId="{54CE9724-E0E6-4ADD-A333-486BECB6A57F}" type="presOf" srcId="{89D4719F-99F7-446C-A31D-43185773D21E}" destId="{24F47ACD-1876-43C5-9201-669889AA2F6A}" srcOrd="0" destOrd="0" presId="urn:microsoft.com/office/officeart/2005/8/layout/process4"/>
    <dgm:cxn modelId="{22CD575E-853B-4553-AC9B-9E6BB997C575}" type="presOf" srcId="{1655FC68-6227-4C2C-845A-EAB62C1ED4C7}" destId="{9496DBE3-CF52-49FD-81F2-3FD363F7DB18}" srcOrd="0" destOrd="0" presId="urn:microsoft.com/office/officeart/2005/8/layout/process4"/>
    <dgm:cxn modelId="{4E13A745-EEAF-4C0F-910F-B457771EC1A5}" srcId="{1655FC68-6227-4C2C-845A-EAB62C1ED4C7}" destId="{89D4719F-99F7-446C-A31D-43185773D21E}" srcOrd="1" destOrd="0" parTransId="{657AEACA-4B24-4506-AD0E-8DD30942492B}" sibTransId="{31F13745-65E6-48C1-8A34-6466B95D237B}"/>
    <dgm:cxn modelId="{11D840A3-25BD-43E3-99CB-F95C4EFAD36F}" srcId="{1655FC68-6227-4C2C-845A-EAB62C1ED4C7}" destId="{2300CFB9-5540-4C95-A038-1B05E3DEA069}" srcOrd="0" destOrd="0" parTransId="{77BD20B3-CD96-4EBA-BEE4-3FBC549BD944}" sibTransId="{65C475F2-5305-4D95-B198-EF5AD0E76A67}"/>
    <dgm:cxn modelId="{42B7F2C9-FAB5-488D-9CBD-37894D43733D}" type="presOf" srcId="{2300CFB9-5540-4C95-A038-1B05E3DEA069}" destId="{113693E7-F4EC-47FC-B5EF-6BB1A19E1BCF}" srcOrd="0" destOrd="0" presId="urn:microsoft.com/office/officeart/2005/8/layout/process4"/>
    <dgm:cxn modelId="{55DA8A8C-C6E7-4F38-8C31-FEF24539AF20}" type="presParOf" srcId="{9496DBE3-CF52-49FD-81F2-3FD363F7DB18}" destId="{D36813FB-2E1F-4284-91DE-B97354BB28E6}" srcOrd="0" destOrd="0" presId="urn:microsoft.com/office/officeart/2005/8/layout/process4"/>
    <dgm:cxn modelId="{40BE2095-BD10-4B5C-B0A7-BFCE3825C2C8}" type="presParOf" srcId="{D36813FB-2E1F-4284-91DE-B97354BB28E6}" destId="{24F47ACD-1876-43C5-9201-669889AA2F6A}" srcOrd="0" destOrd="0" presId="urn:microsoft.com/office/officeart/2005/8/layout/process4"/>
    <dgm:cxn modelId="{90185136-2BCD-4476-88B5-2B119D4EA5A2}" type="presParOf" srcId="{9496DBE3-CF52-49FD-81F2-3FD363F7DB18}" destId="{112B61F4-CFA2-47A4-B13A-600CE1AA384A}" srcOrd="1" destOrd="0" presId="urn:microsoft.com/office/officeart/2005/8/layout/process4"/>
    <dgm:cxn modelId="{B3106529-6DE4-471E-9F20-6CFD2691A717}" type="presParOf" srcId="{9496DBE3-CF52-49FD-81F2-3FD363F7DB18}" destId="{ADFDD104-EBF0-4A38-9BC6-E96FE51012E2}" srcOrd="2" destOrd="0" presId="urn:microsoft.com/office/officeart/2005/8/layout/process4"/>
    <dgm:cxn modelId="{E0A8AE39-F4A3-4653-A74F-468DB11E3872}" type="presParOf" srcId="{ADFDD104-EBF0-4A38-9BC6-E96FE51012E2}" destId="{113693E7-F4EC-47FC-B5EF-6BB1A19E1BCF}"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55C42B4-EAAD-4848-B0AE-87CA6B06E11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9E852D1-D620-4CD4-82DA-8B13710C1293}">
      <dgm:prSet/>
      <dgm:spPr/>
      <dgm:t>
        <a:bodyPr/>
        <a:lstStyle/>
        <a:p>
          <a:r>
            <a:rPr lang="en-US">
              <a:hlinkClick xmlns:r="http://schemas.openxmlformats.org/officeDocument/2006/relationships" r:id="rId1"/>
            </a:rPr>
            <a:t>https://www.kaggle.com/</a:t>
          </a:r>
          <a:endParaRPr lang="en-US"/>
        </a:p>
      </dgm:t>
    </dgm:pt>
    <dgm:pt modelId="{F7BD3D7E-96D3-4C80-AA84-A98B88465C5D}" type="parTrans" cxnId="{9E517535-D287-42B4-84E0-B16235FD2A72}">
      <dgm:prSet/>
      <dgm:spPr/>
      <dgm:t>
        <a:bodyPr/>
        <a:lstStyle/>
        <a:p>
          <a:endParaRPr lang="en-US"/>
        </a:p>
      </dgm:t>
    </dgm:pt>
    <dgm:pt modelId="{863D1F11-4FC5-4D5C-831F-FDCB63D011CD}" type="sibTrans" cxnId="{9E517535-D287-42B4-84E0-B16235FD2A72}">
      <dgm:prSet/>
      <dgm:spPr/>
      <dgm:t>
        <a:bodyPr/>
        <a:lstStyle/>
        <a:p>
          <a:endParaRPr lang="en-US"/>
        </a:p>
      </dgm:t>
    </dgm:pt>
    <dgm:pt modelId="{2B4C5526-1025-4401-9F17-81106B59EBFE}">
      <dgm:prSet/>
      <dgm:spPr/>
      <dgm:t>
        <a:bodyPr/>
        <a:lstStyle/>
        <a:p>
          <a:r>
            <a:rPr lang="en-US">
              <a:hlinkClick xmlns:r="http://schemas.openxmlformats.org/officeDocument/2006/relationships" r:id="rId2"/>
            </a:rPr>
            <a:t>https://www.start.umd.edu/gtd/</a:t>
          </a:r>
          <a:endParaRPr lang="en-US"/>
        </a:p>
      </dgm:t>
    </dgm:pt>
    <dgm:pt modelId="{D3615261-1DAF-43C7-93F7-ADCCDD42057B}" type="parTrans" cxnId="{2E8CDB14-DEB2-4D5F-AE6F-175D8E3E4F5F}">
      <dgm:prSet/>
      <dgm:spPr/>
      <dgm:t>
        <a:bodyPr/>
        <a:lstStyle/>
        <a:p>
          <a:endParaRPr lang="en-US"/>
        </a:p>
      </dgm:t>
    </dgm:pt>
    <dgm:pt modelId="{D7A5C38A-875A-4046-957C-5351BB266F1D}" type="sibTrans" cxnId="{2E8CDB14-DEB2-4D5F-AE6F-175D8E3E4F5F}">
      <dgm:prSet/>
      <dgm:spPr/>
      <dgm:t>
        <a:bodyPr/>
        <a:lstStyle/>
        <a:p>
          <a:endParaRPr lang="en-US"/>
        </a:p>
      </dgm:t>
    </dgm:pt>
    <dgm:pt modelId="{8EFE1F50-0B55-41B5-992A-7713B32E543B}">
      <dgm:prSet/>
      <dgm:spPr/>
      <dgm:t>
        <a:bodyPr/>
        <a:lstStyle/>
        <a:p>
          <a:r>
            <a:rPr lang="en-US">
              <a:hlinkClick xmlns:r="http://schemas.openxmlformats.org/officeDocument/2006/relationships" r:id="rId3"/>
            </a:rPr>
            <a:t>YouTube</a:t>
          </a:r>
          <a:endParaRPr lang="en-US"/>
        </a:p>
      </dgm:t>
    </dgm:pt>
    <dgm:pt modelId="{1BAA2AF7-7197-4884-ADB6-33AABB4C92A5}" type="parTrans" cxnId="{A4E6D6E8-1FEF-4C08-9229-0A4B7BE62742}">
      <dgm:prSet/>
      <dgm:spPr/>
      <dgm:t>
        <a:bodyPr/>
        <a:lstStyle/>
        <a:p>
          <a:endParaRPr lang="en-US"/>
        </a:p>
      </dgm:t>
    </dgm:pt>
    <dgm:pt modelId="{F4720E5A-A1B2-42B2-88E6-28BC3EE98448}" type="sibTrans" cxnId="{A4E6D6E8-1FEF-4C08-9229-0A4B7BE62742}">
      <dgm:prSet/>
      <dgm:spPr/>
      <dgm:t>
        <a:bodyPr/>
        <a:lstStyle/>
        <a:p>
          <a:endParaRPr lang="en-US"/>
        </a:p>
      </dgm:t>
    </dgm:pt>
    <dgm:pt modelId="{62E1C8F6-C446-4948-BD9C-576E34968C3B}" type="pres">
      <dgm:prSet presAssocID="{455C42B4-EAAD-4848-B0AE-87CA6B06E11C}" presName="vert0" presStyleCnt="0">
        <dgm:presLayoutVars>
          <dgm:dir/>
          <dgm:animOne val="branch"/>
          <dgm:animLvl val="lvl"/>
        </dgm:presLayoutVars>
      </dgm:prSet>
      <dgm:spPr/>
    </dgm:pt>
    <dgm:pt modelId="{43D02411-2CD3-4B18-B1BA-9C3CA46DDDCC}" type="pres">
      <dgm:prSet presAssocID="{49E852D1-D620-4CD4-82DA-8B13710C1293}" presName="thickLine" presStyleLbl="alignNode1" presStyleIdx="0" presStyleCnt="3"/>
      <dgm:spPr/>
    </dgm:pt>
    <dgm:pt modelId="{448ACE61-8796-43B2-A540-27628E160D75}" type="pres">
      <dgm:prSet presAssocID="{49E852D1-D620-4CD4-82DA-8B13710C1293}" presName="horz1" presStyleCnt="0"/>
      <dgm:spPr/>
    </dgm:pt>
    <dgm:pt modelId="{24859220-C14D-4602-9251-1BBE2A9439BD}" type="pres">
      <dgm:prSet presAssocID="{49E852D1-D620-4CD4-82DA-8B13710C1293}" presName="tx1" presStyleLbl="revTx" presStyleIdx="0" presStyleCnt="3"/>
      <dgm:spPr/>
    </dgm:pt>
    <dgm:pt modelId="{795CA999-10B3-4DE4-88D7-05E9DB49A602}" type="pres">
      <dgm:prSet presAssocID="{49E852D1-D620-4CD4-82DA-8B13710C1293}" presName="vert1" presStyleCnt="0"/>
      <dgm:spPr/>
    </dgm:pt>
    <dgm:pt modelId="{F2304D0D-A7A3-46F3-ADFD-48B40D78413D}" type="pres">
      <dgm:prSet presAssocID="{2B4C5526-1025-4401-9F17-81106B59EBFE}" presName="thickLine" presStyleLbl="alignNode1" presStyleIdx="1" presStyleCnt="3"/>
      <dgm:spPr/>
    </dgm:pt>
    <dgm:pt modelId="{0B2C4BE5-3106-43AB-84B8-C87648930E0E}" type="pres">
      <dgm:prSet presAssocID="{2B4C5526-1025-4401-9F17-81106B59EBFE}" presName="horz1" presStyleCnt="0"/>
      <dgm:spPr/>
    </dgm:pt>
    <dgm:pt modelId="{324D9433-F109-4005-8D43-911A3C0A0290}" type="pres">
      <dgm:prSet presAssocID="{2B4C5526-1025-4401-9F17-81106B59EBFE}" presName="tx1" presStyleLbl="revTx" presStyleIdx="1" presStyleCnt="3"/>
      <dgm:spPr/>
    </dgm:pt>
    <dgm:pt modelId="{192070FB-6B86-4BE7-BDB2-5216691B26F6}" type="pres">
      <dgm:prSet presAssocID="{2B4C5526-1025-4401-9F17-81106B59EBFE}" presName="vert1" presStyleCnt="0"/>
      <dgm:spPr/>
    </dgm:pt>
    <dgm:pt modelId="{05090636-8BCE-460F-9B6C-30E2FC3DF137}" type="pres">
      <dgm:prSet presAssocID="{8EFE1F50-0B55-41B5-992A-7713B32E543B}" presName="thickLine" presStyleLbl="alignNode1" presStyleIdx="2" presStyleCnt="3"/>
      <dgm:spPr/>
    </dgm:pt>
    <dgm:pt modelId="{257E3337-F724-4E57-8684-F09821C87C75}" type="pres">
      <dgm:prSet presAssocID="{8EFE1F50-0B55-41B5-992A-7713B32E543B}" presName="horz1" presStyleCnt="0"/>
      <dgm:spPr/>
    </dgm:pt>
    <dgm:pt modelId="{9ABB1150-757B-414E-B978-F9BD92CBB177}" type="pres">
      <dgm:prSet presAssocID="{8EFE1F50-0B55-41B5-992A-7713B32E543B}" presName="tx1" presStyleLbl="revTx" presStyleIdx="2" presStyleCnt="3"/>
      <dgm:spPr/>
    </dgm:pt>
    <dgm:pt modelId="{32DEE2C7-CE3F-4716-9536-96BE90ADA164}" type="pres">
      <dgm:prSet presAssocID="{8EFE1F50-0B55-41B5-992A-7713B32E543B}" presName="vert1" presStyleCnt="0"/>
      <dgm:spPr/>
    </dgm:pt>
  </dgm:ptLst>
  <dgm:cxnLst>
    <dgm:cxn modelId="{2E8CDB14-DEB2-4D5F-AE6F-175D8E3E4F5F}" srcId="{455C42B4-EAAD-4848-B0AE-87CA6B06E11C}" destId="{2B4C5526-1025-4401-9F17-81106B59EBFE}" srcOrd="1" destOrd="0" parTransId="{D3615261-1DAF-43C7-93F7-ADCCDD42057B}" sibTransId="{D7A5C38A-875A-4046-957C-5351BB266F1D}"/>
    <dgm:cxn modelId="{F2FCE730-8B7D-4475-869F-E5CAF2CDEA76}" type="presOf" srcId="{455C42B4-EAAD-4848-B0AE-87CA6B06E11C}" destId="{62E1C8F6-C446-4948-BD9C-576E34968C3B}" srcOrd="0" destOrd="0" presId="urn:microsoft.com/office/officeart/2008/layout/LinedList"/>
    <dgm:cxn modelId="{392D1D32-8292-4D6A-AC86-FA7ED388A145}" type="presOf" srcId="{8EFE1F50-0B55-41B5-992A-7713B32E543B}" destId="{9ABB1150-757B-414E-B978-F9BD92CBB177}" srcOrd="0" destOrd="0" presId="urn:microsoft.com/office/officeart/2008/layout/LinedList"/>
    <dgm:cxn modelId="{9E517535-D287-42B4-84E0-B16235FD2A72}" srcId="{455C42B4-EAAD-4848-B0AE-87CA6B06E11C}" destId="{49E852D1-D620-4CD4-82DA-8B13710C1293}" srcOrd="0" destOrd="0" parTransId="{F7BD3D7E-96D3-4C80-AA84-A98B88465C5D}" sibTransId="{863D1F11-4FC5-4D5C-831F-FDCB63D011CD}"/>
    <dgm:cxn modelId="{6CF5E13D-CA35-4DD6-A135-E922138A284C}" type="presOf" srcId="{49E852D1-D620-4CD4-82DA-8B13710C1293}" destId="{24859220-C14D-4602-9251-1BBE2A9439BD}" srcOrd="0" destOrd="0" presId="urn:microsoft.com/office/officeart/2008/layout/LinedList"/>
    <dgm:cxn modelId="{641B0B4A-31A2-4570-801D-22DBADACA4A7}" type="presOf" srcId="{2B4C5526-1025-4401-9F17-81106B59EBFE}" destId="{324D9433-F109-4005-8D43-911A3C0A0290}" srcOrd="0" destOrd="0" presId="urn:microsoft.com/office/officeart/2008/layout/LinedList"/>
    <dgm:cxn modelId="{A4E6D6E8-1FEF-4C08-9229-0A4B7BE62742}" srcId="{455C42B4-EAAD-4848-B0AE-87CA6B06E11C}" destId="{8EFE1F50-0B55-41B5-992A-7713B32E543B}" srcOrd="2" destOrd="0" parTransId="{1BAA2AF7-7197-4884-ADB6-33AABB4C92A5}" sibTransId="{F4720E5A-A1B2-42B2-88E6-28BC3EE98448}"/>
    <dgm:cxn modelId="{D8CDED17-27F6-42A9-9C56-C23698BAF77F}" type="presParOf" srcId="{62E1C8F6-C446-4948-BD9C-576E34968C3B}" destId="{43D02411-2CD3-4B18-B1BA-9C3CA46DDDCC}" srcOrd="0" destOrd="0" presId="urn:microsoft.com/office/officeart/2008/layout/LinedList"/>
    <dgm:cxn modelId="{B9770754-21DE-4ED8-8ABF-D15C4A98F1D9}" type="presParOf" srcId="{62E1C8F6-C446-4948-BD9C-576E34968C3B}" destId="{448ACE61-8796-43B2-A540-27628E160D75}" srcOrd="1" destOrd="0" presId="urn:microsoft.com/office/officeart/2008/layout/LinedList"/>
    <dgm:cxn modelId="{EF7928C1-92EE-4528-9C1A-E38FDA349ECD}" type="presParOf" srcId="{448ACE61-8796-43B2-A540-27628E160D75}" destId="{24859220-C14D-4602-9251-1BBE2A9439BD}" srcOrd="0" destOrd="0" presId="urn:microsoft.com/office/officeart/2008/layout/LinedList"/>
    <dgm:cxn modelId="{629D5EF6-20AE-41D3-904E-A3034175CE51}" type="presParOf" srcId="{448ACE61-8796-43B2-A540-27628E160D75}" destId="{795CA999-10B3-4DE4-88D7-05E9DB49A602}" srcOrd="1" destOrd="0" presId="urn:microsoft.com/office/officeart/2008/layout/LinedList"/>
    <dgm:cxn modelId="{122F59CB-7BD4-4598-A25D-81F16CBA244D}" type="presParOf" srcId="{62E1C8F6-C446-4948-BD9C-576E34968C3B}" destId="{F2304D0D-A7A3-46F3-ADFD-48B40D78413D}" srcOrd="2" destOrd="0" presId="urn:microsoft.com/office/officeart/2008/layout/LinedList"/>
    <dgm:cxn modelId="{656C0DF6-5938-45A2-ABB1-D563337C52B8}" type="presParOf" srcId="{62E1C8F6-C446-4948-BD9C-576E34968C3B}" destId="{0B2C4BE5-3106-43AB-84B8-C87648930E0E}" srcOrd="3" destOrd="0" presId="urn:microsoft.com/office/officeart/2008/layout/LinedList"/>
    <dgm:cxn modelId="{1DADA6BB-3A36-406E-B3FC-AD2A95E46222}" type="presParOf" srcId="{0B2C4BE5-3106-43AB-84B8-C87648930E0E}" destId="{324D9433-F109-4005-8D43-911A3C0A0290}" srcOrd="0" destOrd="0" presId="urn:microsoft.com/office/officeart/2008/layout/LinedList"/>
    <dgm:cxn modelId="{92E91874-4904-4EA5-9973-E0C65FD25305}" type="presParOf" srcId="{0B2C4BE5-3106-43AB-84B8-C87648930E0E}" destId="{192070FB-6B86-4BE7-BDB2-5216691B26F6}" srcOrd="1" destOrd="0" presId="urn:microsoft.com/office/officeart/2008/layout/LinedList"/>
    <dgm:cxn modelId="{74D83193-F0DC-4103-8FA8-E939E3B981E9}" type="presParOf" srcId="{62E1C8F6-C446-4948-BD9C-576E34968C3B}" destId="{05090636-8BCE-460F-9B6C-30E2FC3DF137}" srcOrd="4" destOrd="0" presId="urn:microsoft.com/office/officeart/2008/layout/LinedList"/>
    <dgm:cxn modelId="{F66371CC-DCE7-4E33-81B7-C10FC2275A09}" type="presParOf" srcId="{62E1C8F6-C446-4948-BD9C-576E34968C3B}" destId="{257E3337-F724-4E57-8684-F09821C87C75}" srcOrd="5" destOrd="0" presId="urn:microsoft.com/office/officeart/2008/layout/LinedList"/>
    <dgm:cxn modelId="{720A2E6D-747D-4B9E-884B-51B3655EC12B}" type="presParOf" srcId="{257E3337-F724-4E57-8684-F09821C87C75}" destId="{9ABB1150-757B-414E-B978-F9BD92CBB177}" srcOrd="0" destOrd="0" presId="urn:microsoft.com/office/officeart/2008/layout/LinedList"/>
    <dgm:cxn modelId="{37D10D14-591A-451C-AC25-6873C72A408F}" type="presParOf" srcId="{257E3337-F724-4E57-8684-F09821C87C75}" destId="{32DEE2C7-CE3F-4716-9536-96BE90ADA16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DC63F9-5CBC-448D-A72B-4B25D4D15A6B}">
      <dsp:nvSpPr>
        <dsp:cNvPr id="0" name=""/>
        <dsp:cNvSpPr/>
      </dsp:nvSpPr>
      <dsp:spPr>
        <a:xfrm>
          <a:off x="0" y="127761"/>
          <a:ext cx="5614987"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Amr Mohamed AlAlwani</a:t>
          </a:r>
          <a:endParaRPr lang="en-US" sz="1700" kern="1200"/>
        </a:p>
      </dsp:txBody>
      <dsp:txXfrm>
        <a:off x="19904" y="147665"/>
        <a:ext cx="5575179" cy="367937"/>
      </dsp:txXfrm>
    </dsp:sp>
    <dsp:sp modelId="{1F8930E1-27C7-4ADE-AF88-39D51A7C2F96}">
      <dsp:nvSpPr>
        <dsp:cNvPr id="0" name=""/>
        <dsp:cNvSpPr/>
      </dsp:nvSpPr>
      <dsp:spPr>
        <a:xfrm>
          <a:off x="0" y="584466"/>
          <a:ext cx="5614987" cy="407745"/>
        </a:xfrm>
        <a:prstGeom prst="roundRect">
          <a:avLst/>
        </a:prstGeom>
        <a:solidFill>
          <a:schemeClr val="accent5">
            <a:hueOff val="693026"/>
            <a:satOff val="-446"/>
            <a:lumOff val="3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ID:20221367672</a:t>
          </a:r>
          <a:endParaRPr lang="en-US" sz="1700" kern="1200"/>
        </a:p>
      </dsp:txBody>
      <dsp:txXfrm>
        <a:off x="19904" y="604370"/>
        <a:ext cx="5575179" cy="367937"/>
      </dsp:txXfrm>
    </dsp:sp>
    <dsp:sp modelId="{3B2B462C-CD9E-41CD-BDC7-2E9648FA0030}">
      <dsp:nvSpPr>
        <dsp:cNvPr id="0" name=""/>
        <dsp:cNvSpPr/>
      </dsp:nvSpPr>
      <dsp:spPr>
        <a:xfrm>
          <a:off x="0" y="1041171"/>
          <a:ext cx="5614987" cy="407745"/>
        </a:xfrm>
        <a:prstGeom prst="roundRect">
          <a:avLst/>
        </a:prstGeom>
        <a:solidFill>
          <a:schemeClr val="accent5">
            <a:hueOff val="1386053"/>
            <a:satOff val="-892"/>
            <a:lumOff val="61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Youssef Osama Hamdi</a:t>
          </a:r>
          <a:endParaRPr lang="en-US" sz="1700" kern="1200"/>
        </a:p>
      </dsp:txBody>
      <dsp:txXfrm>
        <a:off x="19904" y="1061075"/>
        <a:ext cx="5575179" cy="367937"/>
      </dsp:txXfrm>
    </dsp:sp>
    <dsp:sp modelId="{6BB75FB2-7CEB-45B4-9C71-0D03BFBBB5FF}">
      <dsp:nvSpPr>
        <dsp:cNvPr id="0" name=""/>
        <dsp:cNvSpPr/>
      </dsp:nvSpPr>
      <dsp:spPr>
        <a:xfrm>
          <a:off x="0" y="1497876"/>
          <a:ext cx="5614987" cy="407745"/>
        </a:xfrm>
        <a:prstGeom prst="roundRect">
          <a:avLst/>
        </a:prstGeom>
        <a:solidFill>
          <a:schemeClr val="accent5">
            <a:hueOff val="2079079"/>
            <a:satOff val="-1338"/>
            <a:lumOff val="91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ID:20221372564</a:t>
          </a:r>
          <a:endParaRPr lang="en-US" sz="1700" kern="1200"/>
        </a:p>
      </dsp:txBody>
      <dsp:txXfrm>
        <a:off x="19904" y="1517780"/>
        <a:ext cx="5575179" cy="367937"/>
      </dsp:txXfrm>
    </dsp:sp>
    <dsp:sp modelId="{D8790E84-288D-4516-898C-62E4374C0749}">
      <dsp:nvSpPr>
        <dsp:cNvPr id="0" name=""/>
        <dsp:cNvSpPr/>
      </dsp:nvSpPr>
      <dsp:spPr>
        <a:xfrm>
          <a:off x="0" y="1954581"/>
          <a:ext cx="5614987" cy="407745"/>
        </a:xfrm>
        <a:prstGeom prst="roundRect">
          <a:avLst/>
        </a:prstGeom>
        <a:solidFill>
          <a:schemeClr val="accent5">
            <a:hueOff val="2772106"/>
            <a:satOff val="-1784"/>
            <a:lumOff val="122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Gaser Ezzat Abdulaziz Abu Al-Azm</a:t>
          </a:r>
          <a:endParaRPr lang="en-US" sz="1700" kern="1200"/>
        </a:p>
      </dsp:txBody>
      <dsp:txXfrm>
        <a:off x="19904" y="1974485"/>
        <a:ext cx="5575179" cy="367937"/>
      </dsp:txXfrm>
    </dsp:sp>
    <dsp:sp modelId="{0144B087-5E0C-46DE-AE9B-13354E5B0424}">
      <dsp:nvSpPr>
        <dsp:cNvPr id="0" name=""/>
        <dsp:cNvSpPr/>
      </dsp:nvSpPr>
      <dsp:spPr>
        <a:xfrm>
          <a:off x="0" y="2411286"/>
          <a:ext cx="5614987" cy="407745"/>
        </a:xfrm>
        <a:prstGeom prst="roundRect">
          <a:avLst/>
        </a:prstGeom>
        <a:solidFill>
          <a:schemeClr val="accent5">
            <a:hueOff val="3465132"/>
            <a:satOff val="-2229"/>
            <a:lumOff val="152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ID:20221442258</a:t>
          </a:r>
          <a:endParaRPr lang="en-US" sz="1700" kern="1200"/>
        </a:p>
      </dsp:txBody>
      <dsp:txXfrm>
        <a:off x="19904" y="2431190"/>
        <a:ext cx="5575179" cy="367937"/>
      </dsp:txXfrm>
    </dsp:sp>
    <dsp:sp modelId="{04485491-BCCD-4ED7-9FE3-9D3FE7584819}">
      <dsp:nvSpPr>
        <dsp:cNvPr id="0" name=""/>
        <dsp:cNvSpPr/>
      </dsp:nvSpPr>
      <dsp:spPr>
        <a:xfrm>
          <a:off x="0" y="2867991"/>
          <a:ext cx="5614987" cy="407745"/>
        </a:xfrm>
        <a:prstGeom prst="roundRect">
          <a:avLst/>
        </a:prstGeom>
        <a:solidFill>
          <a:schemeClr val="accent5">
            <a:hueOff val="4158159"/>
            <a:satOff val="-2675"/>
            <a:lumOff val="18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Mahmoud Yasser Abdel Razek Rizk</a:t>
          </a:r>
          <a:endParaRPr lang="en-US" sz="1700" kern="1200"/>
        </a:p>
      </dsp:txBody>
      <dsp:txXfrm>
        <a:off x="19904" y="2887895"/>
        <a:ext cx="5575179" cy="367937"/>
      </dsp:txXfrm>
    </dsp:sp>
    <dsp:sp modelId="{6F6A9856-47B4-434D-8355-6E02FB2EB921}">
      <dsp:nvSpPr>
        <dsp:cNvPr id="0" name=""/>
        <dsp:cNvSpPr/>
      </dsp:nvSpPr>
      <dsp:spPr>
        <a:xfrm>
          <a:off x="0" y="3324696"/>
          <a:ext cx="5614987" cy="407745"/>
        </a:xfrm>
        <a:prstGeom prst="roundRect">
          <a:avLst/>
        </a:prstGeom>
        <a:solidFill>
          <a:schemeClr val="accent5">
            <a:hueOff val="4851185"/>
            <a:satOff val="-3121"/>
            <a:lumOff val="213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ID:20221372316</a:t>
          </a:r>
          <a:endParaRPr lang="en-US" sz="1700" kern="1200"/>
        </a:p>
      </dsp:txBody>
      <dsp:txXfrm>
        <a:off x="19904" y="3344600"/>
        <a:ext cx="5575179" cy="367937"/>
      </dsp:txXfrm>
    </dsp:sp>
    <dsp:sp modelId="{B8C28C07-E8B8-4741-AC80-D0FFC48C0194}">
      <dsp:nvSpPr>
        <dsp:cNvPr id="0" name=""/>
        <dsp:cNvSpPr/>
      </dsp:nvSpPr>
      <dsp:spPr>
        <a:xfrm>
          <a:off x="0" y="3781401"/>
          <a:ext cx="5614987" cy="407745"/>
        </a:xfrm>
        <a:prstGeom prst="roundRect">
          <a:avLst/>
        </a:prstGeom>
        <a:solidFill>
          <a:schemeClr val="accent5">
            <a:hueOff val="5544212"/>
            <a:satOff val="-3567"/>
            <a:lumOff val="243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Muhammad Ibrahim Al-Sayed Nofal</a:t>
          </a:r>
          <a:endParaRPr lang="en-US" sz="1700" kern="1200"/>
        </a:p>
      </dsp:txBody>
      <dsp:txXfrm>
        <a:off x="19904" y="3801305"/>
        <a:ext cx="5575179" cy="367937"/>
      </dsp:txXfrm>
    </dsp:sp>
    <dsp:sp modelId="{3386F113-BD35-4D75-95D7-09F05957E8DE}">
      <dsp:nvSpPr>
        <dsp:cNvPr id="0" name=""/>
        <dsp:cNvSpPr/>
      </dsp:nvSpPr>
      <dsp:spPr>
        <a:xfrm>
          <a:off x="0" y="4238106"/>
          <a:ext cx="5614987" cy="407745"/>
        </a:xfrm>
        <a:prstGeom prst="roundRect">
          <a:avLst/>
        </a:prstGeom>
        <a:solidFill>
          <a:schemeClr val="accent5">
            <a:hueOff val="6237238"/>
            <a:satOff val="-4013"/>
            <a:lumOff val="27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ID:20221367676</a:t>
          </a:r>
          <a:endParaRPr lang="en-US" sz="1700" kern="1200"/>
        </a:p>
      </dsp:txBody>
      <dsp:txXfrm>
        <a:off x="19904" y="4258010"/>
        <a:ext cx="5575179" cy="367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47ACD-1876-43C5-9201-669889AA2F6A}">
      <dsp:nvSpPr>
        <dsp:cNvPr id="0" name=""/>
        <dsp:cNvSpPr/>
      </dsp:nvSpPr>
      <dsp:spPr>
        <a:xfrm>
          <a:off x="0" y="2881128"/>
          <a:ext cx="5614987" cy="1890332"/>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100000"/>
            </a:lnSpc>
            <a:spcBef>
              <a:spcPct val="0"/>
            </a:spcBef>
            <a:spcAft>
              <a:spcPct val="35000"/>
            </a:spcAft>
            <a:buNone/>
          </a:pPr>
          <a:r>
            <a:rPr lang="en-US" sz="2400" kern="1200" dirty="0"/>
            <a:t>during 1970 to 2017</a:t>
          </a:r>
        </a:p>
      </dsp:txBody>
      <dsp:txXfrm>
        <a:off x="0" y="2881128"/>
        <a:ext cx="5614987" cy="1890332"/>
      </dsp:txXfrm>
    </dsp:sp>
    <dsp:sp modelId="{113693E7-F4EC-47FC-B5EF-6BB1A19E1BCF}">
      <dsp:nvSpPr>
        <dsp:cNvPr id="0" name=""/>
        <dsp:cNvSpPr/>
      </dsp:nvSpPr>
      <dsp:spPr>
        <a:xfrm rot="10800000">
          <a:off x="0" y="2152"/>
          <a:ext cx="5614987" cy="2907330"/>
        </a:xfrm>
        <a:prstGeom prst="upArrowCallou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100000"/>
            </a:lnSpc>
            <a:spcBef>
              <a:spcPct val="0"/>
            </a:spcBef>
            <a:spcAft>
              <a:spcPct val="35000"/>
            </a:spcAft>
            <a:buNone/>
          </a:pPr>
          <a:r>
            <a:rPr lang="en-US" sz="2400" kern="1200"/>
            <a:t>This Dataset Contains 180,000 row and 135 column  showing the lots of information about the </a:t>
          </a:r>
          <a:r>
            <a:rPr lang="en-US" sz="2400" b="1" i="0" kern="1200"/>
            <a:t>Evaluating and Analyzing Global Terrorism</a:t>
          </a:r>
          <a:r>
            <a:rPr lang="en-US" sz="2400" kern="1200"/>
            <a:t> </a:t>
          </a:r>
        </a:p>
      </dsp:txBody>
      <dsp:txXfrm rot="10800000">
        <a:off x="0" y="2152"/>
        <a:ext cx="5614987" cy="18890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D02411-2CD3-4B18-B1BA-9C3CA46DDDCC}">
      <dsp:nvSpPr>
        <dsp:cNvPr id="0" name=""/>
        <dsp:cNvSpPr/>
      </dsp:nvSpPr>
      <dsp:spPr>
        <a:xfrm>
          <a:off x="0" y="2048"/>
          <a:ext cx="8946541"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859220-C14D-4602-9251-1BBE2A9439BD}">
      <dsp:nvSpPr>
        <dsp:cNvPr id="0" name=""/>
        <dsp:cNvSpPr/>
      </dsp:nvSpPr>
      <dsp:spPr>
        <a:xfrm>
          <a:off x="0" y="2048"/>
          <a:ext cx="8946541" cy="1397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a:hlinkClick xmlns:r="http://schemas.openxmlformats.org/officeDocument/2006/relationships" r:id="rId1"/>
            </a:rPr>
            <a:t>https://www.kaggle.com/</a:t>
          </a:r>
          <a:endParaRPr lang="en-US" sz="4300" kern="1200"/>
        </a:p>
      </dsp:txBody>
      <dsp:txXfrm>
        <a:off x="0" y="2048"/>
        <a:ext cx="8946541" cy="1397127"/>
      </dsp:txXfrm>
    </dsp:sp>
    <dsp:sp modelId="{F2304D0D-A7A3-46F3-ADFD-48B40D78413D}">
      <dsp:nvSpPr>
        <dsp:cNvPr id="0" name=""/>
        <dsp:cNvSpPr/>
      </dsp:nvSpPr>
      <dsp:spPr>
        <a:xfrm>
          <a:off x="0" y="1399176"/>
          <a:ext cx="8946541"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4D9433-F109-4005-8D43-911A3C0A0290}">
      <dsp:nvSpPr>
        <dsp:cNvPr id="0" name=""/>
        <dsp:cNvSpPr/>
      </dsp:nvSpPr>
      <dsp:spPr>
        <a:xfrm>
          <a:off x="0" y="1399176"/>
          <a:ext cx="8946541" cy="1397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a:hlinkClick xmlns:r="http://schemas.openxmlformats.org/officeDocument/2006/relationships" r:id="rId2"/>
            </a:rPr>
            <a:t>https://www.start.umd.edu/gtd/</a:t>
          </a:r>
          <a:endParaRPr lang="en-US" sz="4300" kern="1200"/>
        </a:p>
      </dsp:txBody>
      <dsp:txXfrm>
        <a:off x="0" y="1399176"/>
        <a:ext cx="8946541" cy="1397127"/>
      </dsp:txXfrm>
    </dsp:sp>
    <dsp:sp modelId="{05090636-8BCE-460F-9B6C-30E2FC3DF137}">
      <dsp:nvSpPr>
        <dsp:cNvPr id="0" name=""/>
        <dsp:cNvSpPr/>
      </dsp:nvSpPr>
      <dsp:spPr>
        <a:xfrm>
          <a:off x="0" y="2796304"/>
          <a:ext cx="8946541"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BB1150-757B-414E-B978-F9BD92CBB177}">
      <dsp:nvSpPr>
        <dsp:cNvPr id="0" name=""/>
        <dsp:cNvSpPr/>
      </dsp:nvSpPr>
      <dsp:spPr>
        <a:xfrm>
          <a:off x="0" y="2796304"/>
          <a:ext cx="8946541" cy="1397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a:hlinkClick xmlns:r="http://schemas.openxmlformats.org/officeDocument/2006/relationships" r:id="rId3"/>
            </a:rPr>
            <a:t>YouTube</a:t>
          </a:r>
          <a:endParaRPr lang="en-US" sz="4300" kern="1200"/>
        </a:p>
      </dsp:txBody>
      <dsp:txXfrm>
        <a:off x="0" y="2796304"/>
        <a:ext cx="8946541" cy="13971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95932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3661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9452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3684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67117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08229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38204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5651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28340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76240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23766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52896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60217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642883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7626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80798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1968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46CE7D5-CF57-46EF-B807-FDD0502418D4}" type="datetimeFigureOut">
              <a:rPr lang="en-US" smtClean="0"/>
              <a:t>5/18/2023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33061872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BF6FBD1-77A9-4FEB-243B-CF5C5DBAAB93}"/>
              </a:ext>
            </a:extLst>
          </p:cNvPr>
          <p:cNvPicPr>
            <a:picLocks noChangeAspect="1"/>
          </p:cNvPicPr>
          <p:nvPr/>
        </p:nvPicPr>
        <p:blipFill rotWithShape="1">
          <a:blip r:embed="rId3">
            <a:duotone>
              <a:prstClr val="black"/>
              <a:schemeClr val="accent5">
                <a:tint val="45000"/>
                <a:satMod val="400000"/>
              </a:schemeClr>
            </a:duotone>
            <a:alphaModFix amt="25000"/>
          </a:blip>
          <a:srcRect l="3111" r="1" b="1"/>
          <a:stretch/>
        </p:blipFill>
        <p:spPr>
          <a:xfrm>
            <a:off x="20" y="10"/>
            <a:ext cx="12191980" cy="6857990"/>
          </a:xfrm>
          <a:prstGeom prst="rect">
            <a:avLst/>
          </a:prstGeom>
        </p:spPr>
      </p:pic>
      <p:sp>
        <p:nvSpPr>
          <p:cNvPr id="2" name="Title 1"/>
          <p:cNvSpPr>
            <a:spLocks noGrp="1"/>
          </p:cNvSpPr>
          <p:nvPr>
            <p:ph type="ctrTitle"/>
          </p:nvPr>
        </p:nvSpPr>
        <p:spPr>
          <a:xfrm>
            <a:off x="1154955" y="1447800"/>
            <a:ext cx="8825658" cy="3329581"/>
          </a:xfrm>
        </p:spPr>
        <p:txBody>
          <a:bodyPr>
            <a:normAutofit/>
          </a:bodyPr>
          <a:lstStyle/>
          <a:p>
            <a:pPr>
              <a:lnSpc>
                <a:spcPct val="90000"/>
              </a:lnSpc>
            </a:pPr>
            <a:r>
              <a:rPr lang="en-US" sz="6100" b="1" i="0" dirty="0">
                <a:effectLst/>
                <a:latin typeface="TimesNewRomanPS-BoldMT"/>
              </a:rPr>
              <a:t>Evaluating and Analyzing Global Terrorism</a:t>
            </a:r>
            <a:r>
              <a:rPr lang="en-US" sz="6100" dirty="0"/>
              <a:t> </a:t>
            </a:r>
            <a:br>
              <a:rPr lang="en-US" sz="6100" dirty="0"/>
            </a:br>
            <a:endParaRPr lang="en-US" sz="6100" dirty="0"/>
          </a:p>
        </p:txBody>
      </p:sp>
      <p:sp>
        <p:nvSpPr>
          <p:cNvPr id="18" name="Rectangle 17">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1">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E5BB82-D367-AB93-C254-4821E8DA8763}"/>
              </a:ext>
            </a:extLst>
          </p:cNvPr>
          <p:cNvSpPr>
            <a:spLocks noGrp="1"/>
          </p:cNvSpPr>
          <p:nvPr>
            <p:ph type="title"/>
          </p:nvPr>
        </p:nvSpPr>
        <p:spPr>
          <a:xfrm>
            <a:off x="648929" y="1063417"/>
            <a:ext cx="3505495" cy="4675396"/>
          </a:xfrm>
        </p:spPr>
        <p:txBody>
          <a:bodyPr anchor="ctr">
            <a:normAutofit/>
          </a:bodyPr>
          <a:lstStyle/>
          <a:p>
            <a:r>
              <a:rPr lang="en-US" dirty="0">
                <a:solidFill>
                  <a:srgbClr val="F2F2F2"/>
                </a:solidFill>
              </a:rPr>
              <a:t>Team Work:</a:t>
            </a:r>
          </a:p>
        </p:txBody>
      </p:sp>
      <p:sp>
        <p:nvSpPr>
          <p:cNvPr id="21" name="Rectangle 13">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7">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7" name="Content Placeholder 2">
            <a:extLst>
              <a:ext uri="{FF2B5EF4-FFF2-40B4-BE49-F238E27FC236}">
                <a16:creationId xmlns:a16="http://schemas.microsoft.com/office/drawing/2014/main" id="{B325386E-1F31-8CA8-1C5C-3C9601487908}"/>
              </a:ext>
            </a:extLst>
          </p:cNvPr>
          <p:cNvGraphicFramePr>
            <a:graphicFrameLocks noGrp="1"/>
          </p:cNvGraphicFramePr>
          <p:nvPr>
            <p:ph idx="1"/>
            <p:extLst>
              <p:ext uri="{D42A27DB-BD31-4B8C-83A1-F6EECF244321}">
                <p14:modId xmlns:p14="http://schemas.microsoft.com/office/powerpoint/2010/main" val="504525011"/>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80559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468DDD-73C0-F991-7962-80F59397F1CF}"/>
              </a:ext>
            </a:extLst>
          </p:cNvPr>
          <p:cNvSpPr>
            <a:spLocks noGrp="1"/>
          </p:cNvSpPr>
          <p:nvPr>
            <p:ph type="title"/>
          </p:nvPr>
        </p:nvSpPr>
        <p:spPr>
          <a:xfrm>
            <a:off x="648930" y="629266"/>
            <a:ext cx="6188190" cy="1622321"/>
          </a:xfrm>
        </p:spPr>
        <p:txBody>
          <a:bodyPr>
            <a:normAutofit/>
          </a:bodyPr>
          <a:lstStyle/>
          <a:p>
            <a:r>
              <a:rPr lang="en-US" kern="1800" dirty="0">
                <a:solidFill>
                  <a:srgbClr val="EBEBEB"/>
                </a:solidFill>
                <a:effectLst/>
                <a:latin typeface="Arial" panose="020B0604020202020204" pitchFamily="34" charset="0"/>
                <a:ea typeface="Times New Roman" panose="02020603050405020304" pitchFamily="18" charset="0"/>
                <a:cs typeface="Arial" panose="020B0604020202020204" pitchFamily="34" charset="0"/>
              </a:rPr>
              <a:t>Introduction</a:t>
            </a:r>
            <a:br>
              <a:rPr lang="en-US" kern="100" dirty="0">
                <a:solidFill>
                  <a:srgbClr val="EBEBEB"/>
                </a:solidFill>
                <a:effectLst/>
                <a:latin typeface="Calibri" panose="020F0502020204030204" pitchFamily="34" charset="0"/>
                <a:ea typeface="Calibri" panose="020F0502020204030204" pitchFamily="34" charset="0"/>
                <a:cs typeface="Arial" panose="020B0604020202020204" pitchFamily="34" charset="0"/>
              </a:rPr>
            </a:br>
            <a:endParaRPr lang="ar-EG" dirty="0">
              <a:solidFill>
                <a:srgbClr val="EBEBEB"/>
              </a:solidFill>
            </a:endParaRPr>
          </a:p>
        </p:txBody>
      </p:sp>
      <p:sp>
        <p:nvSpPr>
          <p:cNvPr id="3" name="Content Placeholder 2">
            <a:extLst>
              <a:ext uri="{FF2B5EF4-FFF2-40B4-BE49-F238E27FC236}">
                <a16:creationId xmlns:a16="http://schemas.microsoft.com/office/drawing/2014/main" id="{AF168754-0BE1-224C-0196-DAB3586038E5}"/>
              </a:ext>
            </a:extLst>
          </p:cNvPr>
          <p:cNvSpPr>
            <a:spLocks noGrp="1"/>
          </p:cNvSpPr>
          <p:nvPr>
            <p:ph idx="1"/>
          </p:nvPr>
        </p:nvSpPr>
        <p:spPr>
          <a:xfrm>
            <a:off x="648930" y="2438400"/>
            <a:ext cx="6188189" cy="3785419"/>
          </a:xfrm>
        </p:spPr>
        <p:txBody>
          <a:bodyPr>
            <a:normAutofit/>
          </a:bodyPr>
          <a:lstStyle/>
          <a:p>
            <a:pPr marL="0" marR="0" algn="l" rtl="0">
              <a:lnSpc>
                <a:spcPct val="90000"/>
              </a:lnSpc>
              <a:spcBef>
                <a:spcPts val="0"/>
              </a:spcBef>
              <a:spcAft>
                <a:spcPts val="1200"/>
              </a:spcAft>
            </a:pPr>
            <a:r>
              <a:rPr lang="en-US" sz="1700" kern="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The Global Terrorism Database (GTD) is a database that contains information on terrorist attacks worldwide from 1970 to 2017, which includes over 180,000 incidents. The GTD is an open-source database that is maintained by researchers at the National Consortium for the Study of Terrorism and Responses to Terrorism , The database provides a systematic and comprehensive approach to collecting and analyzing data on both domestic and international terrorist incidents. Understanding the context of the GTD is essential for researchers, analysts, and policymakers to identify trends, patterns, and other insights that can inform counterterrorism efforts.</a:t>
            </a:r>
            <a:endParaRPr lang="en-US" sz="1700" kern="100" dirty="0">
              <a:solidFill>
                <a:srgbClr val="FFFFFF"/>
              </a:solidFill>
              <a:effectLst/>
              <a:latin typeface="Calibri" panose="020F0502020204030204" pitchFamily="34" charset="0"/>
              <a:ea typeface="Calibri" panose="020F0502020204030204" pitchFamily="34" charset="0"/>
              <a:cs typeface="Arial" panose="020B0604020202020204" pitchFamily="34" charset="0"/>
            </a:endParaRPr>
          </a:p>
          <a:p>
            <a:pPr>
              <a:lnSpc>
                <a:spcPct val="90000"/>
              </a:lnSpc>
            </a:pPr>
            <a:endParaRPr lang="ar-EG" sz="1700" dirty="0">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3" name="Picture 4" descr="Graph on document with pen">
            <a:extLst>
              <a:ext uri="{FF2B5EF4-FFF2-40B4-BE49-F238E27FC236}">
                <a16:creationId xmlns:a16="http://schemas.microsoft.com/office/drawing/2014/main" id="{76199094-3CC4-CFD9-405A-EF1520B96BE1}"/>
              </a:ext>
            </a:extLst>
          </p:cNvPr>
          <p:cNvPicPr>
            <a:picLocks noChangeAspect="1"/>
          </p:cNvPicPr>
          <p:nvPr/>
        </p:nvPicPr>
        <p:blipFill rotWithShape="1">
          <a:blip r:embed="rId3"/>
          <a:srcRect l="32707" r="18984" b="-2"/>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01838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19">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66FE72-6A04-5AA4-61F0-1629BDF26C7F}"/>
              </a:ext>
            </a:extLst>
          </p:cNvPr>
          <p:cNvSpPr>
            <a:spLocks noGrp="1"/>
          </p:cNvSpPr>
          <p:nvPr>
            <p:ph type="title"/>
          </p:nvPr>
        </p:nvSpPr>
        <p:spPr>
          <a:xfrm>
            <a:off x="648929" y="1063417"/>
            <a:ext cx="3505495" cy="4675396"/>
          </a:xfrm>
        </p:spPr>
        <p:txBody>
          <a:bodyPr anchor="ctr">
            <a:normAutofit/>
          </a:bodyPr>
          <a:lstStyle/>
          <a:p>
            <a:r>
              <a:rPr lang="en-US">
                <a:solidFill>
                  <a:srgbClr val="F2F2F2"/>
                </a:solidFill>
              </a:rPr>
              <a:t>About Data Set</a:t>
            </a:r>
            <a:endParaRPr lang="ar-EG">
              <a:solidFill>
                <a:srgbClr val="F2F2F2"/>
              </a:solidFill>
            </a:endParaRPr>
          </a:p>
        </p:txBody>
      </p:sp>
      <p:sp>
        <p:nvSpPr>
          <p:cNvPr id="29" name="Rectangle 21">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5">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D3CC08BE-A8E5-3482-91E8-3EF0EE5AB2C2}"/>
              </a:ext>
            </a:extLst>
          </p:cNvPr>
          <p:cNvGraphicFramePr>
            <a:graphicFrameLocks noGrp="1"/>
          </p:cNvGraphicFramePr>
          <p:nvPr>
            <p:ph idx="1"/>
            <p:extLst>
              <p:ext uri="{D42A27DB-BD31-4B8C-83A1-F6EECF244321}">
                <p14:modId xmlns:p14="http://schemas.microsoft.com/office/powerpoint/2010/main" val="3064582435"/>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361256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9">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1E50E7-EC0D-8C99-F9C2-643520C7ECDE}"/>
              </a:ext>
            </a:extLst>
          </p:cNvPr>
          <p:cNvSpPr>
            <a:spLocks noGrp="1"/>
          </p:cNvSpPr>
          <p:nvPr>
            <p:ph type="title"/>
          </p:nvPr>
        </p:nvSpPr>
        <p:spPr>
          <a:xfrm>
            <a:off x="648929" y="629266"/>
            <a:ext cx="3505495" cy="1622321"/>
          </a:xfrm>
        </p:spPr>
        <p:txBody>
          <a:bodyPr>
            <a:normAutofit/>
          </a:bodyPr>
          <a:lstStyle/>
          <a:p>
            <a:r>
              <a:rPr lang="en-US">
                <a:solidFill>
                  <a:srgbClr val="EBEBEB"/>
                </a:solidFill>
              </a:rPr>
              <a:t>Problem</a:t>
            </a:r>
            <a:endParaRPr lang="ar-EG">
              <a:solidFill>
                <a:srgbClr val="EBEBEB"/>
              </a:solidFill>
            </a:endParaRPr>
          </a:p>
        </p:txBody>
      </p:sp>
      <p:sp>
        <p:nvSpPr>
          <p:cNvPr id="19" name="Rectangle 11">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Description automatically generated with medium confidence">
            <a:extLst>
              <a:ext uri="{FF2B5EF4-FFF2-40B4-BE49-F238E27FC236}">
                <a16:creationId xmlns:a16="http://schemas.microsoft.com/office/drawing/2014/main" id="{7BA84F47-4096-5714-3BB2-539B24DA93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3688" y="1036320"/>
            <a:ext cx="6584097" cy="4511039"/>
          </a:xfrm>
          <a:prstGeom prst="rect">
            <a:avLst/>
          </a:prstGeom>
          <a:effectLst/>
        </p:spPr>
      </p:pic>
      <p:sp>
        <p:nvSpPr>
          <p:cNvPr id="21" name="Rectangle 15">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5E54B021-67B6-12FE-FD39-90F111224849}"/>
              </a:ext>
            </a:extLst>
          </p:cNvPr>
          <p:cNvSpPr>
            <a:spLocks noGrp="1"/>
          </p:cNvSpPr>
          <p:nvPr>
            <p:ph idx="1"/>
          </p:nvPr>
        </p:nvSpPr>
        <p:spPr>
          <a:xfrm>
            <a:off x="648931" y="2438400"/>
            <a:ext cx="3505494" cy="3785419"/>
          </a:xfrm>
        </p:spPr>
        <p:txBody>
          <a:bodyPr>
            <a:normAutofit/>
          </a:bodyPr>
          <a:lstStyle/>
          <a:p>
            <a:pPr marL="0" indent="0" algn="l" rtl="0">
              <a:buNone/>
            </a:pPr>
            <a:r>
              <a:rPr lang="en-US" dirty="0">
                <a:solidFill>
                  <a:srgbClr val="FFFFFF"/>
                </a:solidFill>
              </a:rPr>
              <a:t>In data set we </a:t>
            </a:r>
            <a:r>
              <a:rPr lang="en-US" dirty="0" err="1">
                <a:solidFill>
                  <a:srgbClr val="FFFFFF"/>
                </a:solidFill>
              </a:rPr>
              <a:t>hava</a:t>
            </a:r>
            <a:r>
              <a:rPr lang="en-US" dirty="0">
                <a:solidFill>
                  <a:srgbClr val="FFFFFF"/>
                </a:solidFill>
              </a:rPr>
              <a:t> useless columns , so we select only columns we need and Create a new column named “</a:t>
            </a:r>
            <a:r>
              <a:rPr lang="en-US" dirty="0" err="1">
                <a:solidFill>
                  <a:srgbClr val="FFFFFF"/>
                </a:solidFill>
              </a:rPr>
              <a:t>Casualities</a:t>
            </a:r>
            <a:r>
              <a:rPr lang="en-US" dirty="0">
                <a:solidFill>
                  <a:srgbClr val="FFFFFF"/>
                </a:solidFill>
              </a:rPr>
              <a:t>” by combining the Killed column with the </a:t>
            </a:r>
            <a:r>
              <a:rPr lang="en-US" dirty="0" err="1">
                <a:solidFill>
                  <a:srgbClr val="FFFFFF"/>
                </a:solidFill>
              </a:rPr>
              <a:t>Wonded</a:t>
            </a:r>
            <a:r>
              <a:rPr lang="en-US" dirty="0">
                <a:solidFill>
                  <a:srgbClr val="FFFFFF"/>
                </a:solidFill>
              </a:rPr>
              <a:t> column.</a:t>
            </a:r>
          </a:p>
          <a:p>
            <a:pPr marL="0" indent="0" algn="l" rtl="0">
              <a:buNone/>
            </a:pPr>
            <a:endParaRPr lang="en-US" dirty="0">
              <a:solidFill>
                <a:srgbClr val="FFFFFF"/>
              </a:solidFill>
            </a:endParaRPr>
          </a:p>
          <a:p>
            <a:pPr marL="0" indent="0" algn="l" rtl="0">
              <a:buNone/>
            </a:pPr>
            <a:endParaRPr lang="ar-EG" dirty="0">
              <a:solidFill>
                <a:srgbClr val="FFFFFF"/>
              </a:solidFill>
            </a:endParaRPr>
          </a:p>
        </p:txBody>
      </p:sp>
    </p:spTree>
    <p:extLst>
      <p:ext uri="{BB962C8B-B14F-4D97-AF65-F5344CB8AC3E}">
        <p14:creationId xmlns:p14="http://schemas.microsoft.com/office/powerpoint/2010/main" val="203483031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840E73-CD02-B80A-3401-2473E697911C}"/>
              </a:ext>
            </a:extLst>
          </p:cNvPr>
          <p:cNvSpPr>
            <a:spLocks noGrp="1"/>
          </p:cNvSpPr>
          <p:nvPr>
            <p:ph type="title"/>
          </p:nvPr>
        </p:nvSpPr>
        <p:spPr>
          <a:xfrm>
            <a:off x="4872012" y="1447800"/>
            <a:ext cx="5222325" cy="3329581"/>
          </a:xfrm>
        </p:spPr>
        <p:txBody>
          <a:bodyPr vert="horz" lIns="91440" tIns="45720" rIns="91440" bIns="45720" rtlCol="0" anchor="b">
            <a:normAutofit/>
          </a:bodyPr>
          <a:lstStyle/>
          <a:p>
            <a:pPr rtl="0"/>
            <a:r>
              <a:rPr lang="en-US" sz="7200" b="0" i="0" kern="1200" dirty="0">
                <a:solidFill>
                  <a:srgbClr val="EBEBEB"/>
                </a:solidFill>
                <a:latin typeface="+mj-lt"/>
                <a:ea typeface="+mj-ea"/>
                <a:cs typeface="+mj-cs"/>
              </a:rPr>
              <a:t>Data Cleaning</a:t>
            </a:r>
          </a:p>
        </p:txBody>
      </p:sp>
      <p:sp>
        <p:nvSpPr>
          <p:cNvPr id="3" name="Content Placeholder 2">
            <a:extLst>
              <a:ext uri="{FF2B5EF4-FFF2-40B4-BE49-F238E27FC236}">
                <a16:creationId xmlns:a16="http://schemas.microsoft.com/office/drawing/2014/main" id="{6B21F9BB-601D-5A25-16CF-0FBAFF2CCE88}"/>
              </a:ext>
            </a:extLst>
          </p:cNvPr>
          <p:cNvSpPr>
            <a:spLocks noGrp="1"/>
          </p:cNvSpPr>
          <p:nvPr>
            <p:ph idx="1"/>
          </p:nvPr>
        </p:nvSpPr>
        <p:spPr>
          <a:xfrm>
            <a:off x="4872012" y="4777380"/>
            <a:ext cx="5222326" cy="861420"/>
          </a:xfrm>
        </p:spPr>
        <p:txBody>
          <a:bodyPr vert="horz" lIns="91440" tIns="45720" rIns="91440" bIns="45720" rtlCol="0" anchor="t">
            <a:normAutofit/>
          </a:bodyPr>
          <a:lstStyle/>
          <a:p>
            <a:pPr marL="0" indent="0" algn="l" rtl="0">
              <a:buNone/>
            </a:pPr>
            <a:r>
              <a:rPr lang="en-US" sz="2400" cap="all" dirty="0">
                <a:solidFill>
                  <a:schemeClr val="bg1"/>
                </a:solidFill>
              </a:rPr>
              <a:t>The data was very messy and we had to clean the data</a:t>
            </a:r>
          </a:p>
        </p:txBody>
      </p:sp>
      <p:sp>
        <p:nvSpPr>
          <p:cNvPr id="24"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81964"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7" name="Graphic 6" descr="Database">
            <a:extLst>
              <a:ext uri="{FF2B5EF4-FFF2-40B4-BE49-F238E27FC236}">
                <a16:creationId xmlns:a16="http://schemas.microsoft.com/office/drawing/2014/main" id="{02D5DC9B-C473-C0D6-122F-6C05DEB6DFA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240" y="2083120"/>
            <a:ext cx="2936836" cy="2936836"/>
          </a:xfrm>
          <a:prstGeom prst="rect">
            <a:avLst/>
          </a:prstGeom>
          <a:effectLst/>
        </p:spPr>
      </p:pic>
    </p:spTree>
    <p:extLst>
      <p:ext uri="{BB962C8B-B14F-4D97-AF65-F5344CB8AC3E}">
        <p14:creationId xmlns:p14="http://schemas.microsoft.com/office/powerpoint/2010/main" val="284086145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0B13FF8-2B3C-4BC1-B3E4-254B3F8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C21BDC-B309-6AF7-3863-4510EB93ACC5}"/>
              </a:ext>
            </a:extLst>
          </p:cNvPr>
          <p:cNvSpPr>
            <a:spLocks noGrp="1"/>
          </p:cNvSpPr>
          <p:nvPr>
            <p:ph type="title"/>
          </p:nvPr>
        </p:nvSpPr>
        <p:spPr>
          <a:xfrm>
            <a:off x="635223" y="629266"/>
            <a:ext cx="3116690" cy="5594554"/>
          </a:xfrm>
        </p:spPr>
        <p:txBody>
          <a:bodyPr anchor="ctr">
            <a:normAutofit/>
          </a:bodyPr>
          <a:lstStyle/>
          <a:p>
            <a:r>
              <a:rPr lang="en-US" sz="4800" b="0" i="0" kern="1200">
                <a:solidFill>
                  <a:srgbClr val="EBEBEB"/>
                </a:solidFill>
                <a:latin typeface="+mj-lt"/>
                <a:ea typeface="+mj-ea"/>
                <a:cs typeface="+mj-cs"/>
              </a:rPr>
              <a:t>Data Cleaning</a:t>
            </a:r>
            <a:endParaRPr lang="ar-EG" sz="4800">
              <a:solidFill>
                <a:srgbClr val="EBEBEB"/>
              </a:solidFill>
            </a:endParaRPr>
          </a:p>
        </p:txBody>
      </p:sp>
      <p:sp>
        <p:nvSpPr>
          <p:cNvPr id="27" name="Freeform 7">
            <a:extLst>
              <a:ext uri="{FF2B5EF4-FFF2-40B4-BE49-F238E27FC236}">
                <a16:creationId xmlns:a16="http://schemas.microsoft.com/office/drawing/2014/main" id="{B9C1207E-FFD8-4821-AFE6-71C724360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9" name="Freeform: Shape 28">
            <a:extLst>
              <a:ext uri="{FF2B5EF4-FFF2-40B4-BE49-F238E27FC236}">
                <a16:creationId xmlns:a16="http://schemas.microsoft.com/office/drawing/2014/main" id="{2B199503-2632-490F-8EB2-759D88708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sp>
        <p:nvSpPr>
          <p:cNvPr id="31" name="Rectangle 30">
            <a:extLst>
              <a:ext uri="{FF2B5EF4-FFF2-40B4-BE49-F238E27FC236}">
                <a16:creationId xmlns:a16="http://schemas.microsoft.com/office/drawing/2014/main" id="{F11C7CB4-0228-486A-931A-262ABB670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1" name="Content Placeholder 10">
            <a:extLst>
              <a:ext uri="{FF2B5EF4-FFF2-40B4-BE49-F238E27FC236}">
                <a16:creationId xmlns:a16="http://schemas.microsoft.com/office/drawing/2014/main" id="{22C3C898-A40C-2825-7D7E-21120018AB60}"/>
              </a:ext>
            </a:extLst>
          </p:cNvPr>
          <p:cNvSpPr>
            <a:spLocks noGrp="1"/>
          </p:cNvSpPr>
          <p:nvPr>
            <p:ph idx="1"/>
          </p:nvPr>
        </p:nvSpPr>
        <p:spPr>
          <a:xfrm>
            <a:off x="5048452" y="1410459"/>
            <a:ext cx="6495847" cy="1885146"/>
          </a:xfrm>
        </p:spPr>
        <p:txBody>
          <a:bodyPr>
            <a:normAutofit/>
          </a:bodyPr>
          <a:lstStyle/>
          <a:p>
            <a:pPr algn="l" rtl="0"/>
            <a:r>
              <a:rPr lang="en-US" dirty="0"/>
              <a:t>First remove all duplicate rows</a:t>
            </a:r>
          </a:p>
          <a:p>
            <a:pPr algn="l" rtl="0"/>
            <a:r>
              <a:rPr lang="en-US" dirty="0"/>
              <a:t>second  Drop rows with missing latitude or longitude</a:t>
            </a:r>
          </a:p>
          <a:p>
            <a:pPr algn="l" rtl="0"/>
            <a:r>
              <a:rPr lang="en-US" dirty="0"/>
              <a:t>Third Replace </a:t>
            </a:r>
            <a:r>
              <a:rPr lang="en-US" dirty="0" err="1"/>
              <a:t>NaN</a:t>
            </a:r>
            <a:r>
              <a:rPr lang="en-US" dirty="0"/>
              <a:t> values with 0</a:t>
            </a:r>
          </a:p>
          <a:p>
            <a:pPr algn="l" rtl="0"/>
            <a:endParaRPr lang="en-US" dirty="0"/>
          </a:p>
        </p:txBody>
      </p:sp>
      <p:pic>
        <p:nvPicPr>
          <p:cNvPr id="7" name="Content Placeholder 6" descr="A screenshot of a computer&#10;&#10;Description automatically generated with low confidence">
            <a:extLst>
              <a:ext uri="{FF2B5EF4-FFF2-40B4-BE49-F238E27FC236}">
                <a16:creationId xmlns:a16="http://schemas.microsoft.com/office/drawing/2014/main" id="{2C681D7E-12BC-3AD2-4D0A-943EB0986791}"/>
              </a:ext>
            </a:extLst>
          </p:cNvPr>
          <p:cNvPicPr>
            <a:picLocks noChangeAspect="1"/>
          </p:cNvPicPr>
          <p:nvPr/>
        </p:nvPicPr>
        <p:blipFill>
          <a:blip r:embed="rId2"/>
          <a:stretch>
            <a:fillRect/>
          </a:stretch>
        </p:blipFill>
        <p:spPr>
          <a:xfrm>
            <a:off x="5048452" y="3562395"/>
            <a:ext cx="6495847" cy="1770118"/>
          </a:xfrm>
          <a:prstGeom prst="rect">
            <a:avLst/>
          </a:prstGeom>
          <a:effectLst/>
        </p:spPr>
      </p:pic>
    </p:spTree>
    <p:extLst>
      <p:ext uri="{BB962C8B-B14F-4D97-AF65-F5344CB8AC3E}">
        <p14:creationId xmlns:p14="http://schemas.microsoft.com/office/powerpoint/2010/main" val="367646486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374EB2-8240-FBD2-BD0B-5C733C20FFFA}"/>
              </a:ext>
            </a:extLst>
          </p:cNvPr>
          <p:cNvSpPr>
            <a:spLocks noGrp="1"/>
          </p:cNvSpPr>
          <p:nvPr>
            <p:ph type="ctrTitle"/>
          </p:nvPr>
        </p:nvSpPr>
        <p:spPr>
          <a:xfrm>
            <a:off x="4872012" y="1447800"/>
            <a:ext cx="5222325" cy="3329581"/>
          </a:xfrm>
        </p:spPr>
        <p:txBody>
          <a:bodyPr>
            <a:normAutofit/>
          </a:bodyPr>
          <a:lstStyle/>
          <a:p>
            <a:r>
              <a:rPr lang="en-US" b="0" i="0">
                <a:solidFill>
                  <a:srgbClr val="EBEBEB"/>
                </a:solidFill>
                <a:effectLst/>
                <a:latin typeface="TimesNewRomanPSMT"/>
              </a:rPr>
              <a:t>visualization</a:t>
            </a:r>
            <a:r>
              <a:rPr lang="en-US">
                <a:solidFill>
                  <a:srgbClr val="EBEBEB"/>
                </a:solidFill>
              </a:rPr>
              <a:t> </a:t>
            </a:r>
            <a:br>
              <a:rPr lang="en-US">
                <a:solidFill>
                  <a:srgbClr val="EBEBEB"/>
                </a:solidFill>
              </a:rPr>
            </a:br>
            <a:endParaRPr lang="ar-EG">
              <a:solidFill>
                <a:srgbClr val="EBEBEB"/>
              </a:solidFill>
            </a:endParaRPr>
          </a:p>
        </p:txBody>
      </p:sp>
      <p:sp>
        <p:nvSpPr>
          <p:cNvPr id="10"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Picture 3">
            <a:extLst>
              <a:ext uri="{FF2B5EF4-FFF2-40B4-BE49-F238E27FC236}">
                <a16:creationId xmlns:a16="http://schemas.microsoft.com/office/drawing/2014/main" id="{22D9BC5E-90FA-41A1-5A36-F6AADB9C2314}"/>
              </a:ext>
            </a:extLst>
          </p:cNvPr>
          <p:cNvPicPr>
            <a:picLocks noChangeAspect="1"/>
          </p:cNvPicPr>
          <p:nvPr/>
        </p:nvPicPr>
        <p:blipFill rotWithShape="1">
          <a:blip r:embed="rId3"/>
          <a:srcRect l="28661" r="32127"/>
          <a:stretch/>
        </p:blipFill>
        <p:spPr>
          <a:xfrm>
            <a:off x="20" y="10"/>
            <a:ext cx="4481944" cy="6857990"/>
          </a:xfrm>
          <a:custGeom>
            <a:avLst/>
            <a:gdLst/>
            <a:ahLst/>
            <a:cxnLst/>
            <a:rect l="l" t="t" r="r" b="b"/>
            <a:pathLst>
              <a:path w="4481964" h="6858000">
                <a:moveTo>
                  <a:pt x="0" y="0"/>
                </a:moveTo>
                <a:lnTo>
                  <a:pt x="3137249" y="0"/>
                </a:ln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0" y="6858000"/>
                </a:lnTo>
                <a:close/>
              </a:path>
            </a:pathLst>
          </a:custGeom>
        </p:spPr>
      </p:pic>
      <p:sp>
        <p:nvSpPr>
          <p:cNvPr id="12" name="Rectangle 11">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2520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45B914-5BCF-3AE1-EDC1-6E4063089D50}"/>
              </a:ext>
            </a:extLst>
          </p:cNvPr>
          <p:cNvSpPr>
            <a:spLocks noGrp="1"/>
          </p:cNvSpPr>
          <p:nvPr>
            <p:ph type="title"/>
          </p:nvPr>
        </p:nvSpPr>
        <p:spPr>
          <a:xfrm>
            <a:off x="8191925" y="1325880"/>
            <a:ext cx="3352375" cy="3066507"/>
          </a:xfrm>
        </p:spPr>
        <p:txBody>
          <a:bodyPr vert="horz" lIns="91440" tIns="45720" rIns="91440" bIns="45720" rtlCol="0" anchor="b">
            <a:normAutofit/>
          </a:bodyPr>
          <a:lstStyle/>
          <a:p>
            <a:pPr rtl="0">
              <a:lnSpc>
                <a:spcPct val="90000"/>
              </a:lnSpc>
            </a:pPr>
            <a:r>
              <a:rPr lang="en-US" sz="1800" b="0" i="0" kern="1200">
                <a:solidFill>
                  <a:srgbClr val="EBEBEB"/>
                </a:solidFill>
                <a:latin typeface="+mj-lt"/>
                <a:ea typeface="+mj-ea"/>
                <a:cs typeface="+mj-cs"/>
              </a:rPr>
              <a:t>Here we used the barplot for the visualization of  (Number Of Attacks For Each Year) to compare their values. The years on the x-axis while values on y-axis. We can find that latest years we have a lot more of terror attacks.</a:t>
            </a:r>
          </a:p>
        </p:txBody>
      </p:sp>
      <p:sp>
        <p:nvSpPr>
          <p:cNvPr id="2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4" descr="Chart, histogram&#10;&#10;Description automatically generated">
            <a:extLst>
              <a:ext uri="{FF2B5EF4-FFF2-40B4-BE49-F238E27FC236}">
                <a16:creationId xmlns:a16="http://schemas.microsoft.com/office/drawing/2014/main" id="{6A4774AC-9189-0E5F-56F1-72941A695361}"/>
              </a:ext>
            </a:extLst>
          </p:cNvPr>
          <p:cNvPicPr>
            <a:picLocks noGrp="1" noChangeAspect="1"/>
          </p:cNvPicPr>
          <p:nvPr>
            <p:ph idx="1"/>
          </p:nvPr>
        </p:nvPicPr>
        <p:blipFill>
          <a:blip r:embed="rId6"/>
          <a:stretch>
            <a:fillRect/>
          </a:stretch>
        </p:blipFill>
        <p:spPr>
          <a:xfrm>
            <a:off x="107284" y="1618113"/>
            <a:ext cx="7252494" cy="4188315"/>
          </a:xfrm>
          <a:prstGeom prst="rect">
            <a:avLst/>
          </a:prstGeom>
          <a:effectLst/>
        </p:spPr>
      </p:pic>
    </p:spTree>
    <p:extLst>
      <p:ext uri="{BB962C8B-B14F-4D97-AF65-F5344CB8AC3E}">
        <p14:creationId xmlns:p14="http://schemas.microsoft.com/office/powerpoint/2010/main" val="2295349117"/>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0"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2"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4"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6"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CC60E5-EE56-6CC2-157F-42A2499F1202}"/>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rtl="0">
              <a:lnSpc>
                <a:spcPct val="90000"/>
              </a:lnSpc>
            </a:pPr>
            <a:r>
              <a:rPr lang="en-US" sz="1600">
                <a:solidFill>
                  <a:srgbClr val="EBEBEB"/>
                </a:solidFill>
              </a:rPr>
              <a:t>Here again we used the barplot for visualization of the (Countries With The Most Attacks) to see the differences between the values each country has For Example (Iraq) had the most terrorism attacks and pakistan in the 2nd place. the name of the country is on the x-axis while count of the attacks on y-axis. </a:t>
            </a:r>
          </a:p>
        </p:txBody>
      </p:sp>
      <p:sp>
        <p:nvSpPr>
          <p:cNvPr id="2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Picture 4" descr="Chart, bar chart&#10;&#10;Description automatically generated">
            <a:extLst>
              <a:ext uri="{FF2B5EF4-FFF2-40B4-BE49-F238E27FC236}">
                <a16:creationId xmlns:a16="http://schemas.microsoft.com/office/drawing/2014/main" id="{99CA6080-33ED-AABC-E748-3F74DBBD6078}"/>
              </a:ext>
            </a:extLst>
          </p:cNvPr>
          <p:cNvPicPr>
            <a:picLocks noGrp="1" noChangeAspect="1"/>
          </p:cNvPicPr>
          <p:nvPr>
            <p:ph idx="1"/>
          </p:nvPr>
        </p:nvPicPr>
        <p:blipFill rotWithShape="1">
          <a:blip r:embed="rId7"/>
          <a:srcRect l="4819" r="26441" b="-1"/>
          <a:stretch/>
        </p:blipFill>
        <p:spPr>
          <a:xfrm>
            <a:off x="108577" y="345440"/>
            <a:ext cx="6937952" cy="6131560"/>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5" name="Rectangle 24">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41735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9A8A21-114E-0AC9-107A-D60F0061EAF3}"/>
              </a:ext>
            </a:extLst>
          </p:cNvPr>
          <p:cNvSpPr>
            <a:spLocks noGrp="1"/>
          </p:cNvSpPr>
          <p:nvPr>
            <p:ph type="title"/>
          </p:nvPr>
        </p:nvSpPr>
        <p:spPr>
          <a:xfrm>
            <a:off x="8191925" y="1325880"/>
            <a:ext cx="3352375" cy="3066507"/>
          </a:xfrm>
        </p:spPr>
        <p:txBody>
          <a:bodyPr vert="horz" lIns="91440" tIns="45720" rIns="91440" bIns="45720" rtlCol="0" anchor="b">
            <a:normAutofit/>
          </a:bodyPr>
          <a:lstStyle/>
          <a:p>
            <a:pPr rtl="0">
              <a:lnSpc>
                <a:spcPct val="90000"/>
              </a:lnSpc>
            </a:pPr>
            <a:r>
              <a:rPr lang="en-US" sz="2200" b="0" i="0" kern="1200">
                <a:solidFill>
                  <a:srgbClr val="EBEBEB"/>
                </a:solidFill>
                <a:latin typeface="+mj-lt"/>
                <a:ea typeface="+mj-ea"/>
                <a:cs typeface="+mj-cs"/>
              </a:rPr>
              <a:t>We plotted the Relation between (Attacks happened each year) with the (region) it happened at using 'area' plot for good frequency plotting.</a:t>
            </a:r>
          </a:p>
        </p:txBody>
      </p:sp>
      <p:sp>
        <p:nvSpPr>
          <p:cNvPr id="2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4" descr="Chart&#10;&#10;Description automatically generated">
            <a:extLst>
              <a:ext uri="{FF2B5EF4-FFF2-40B4-BE49-F238E27FC236}">
                <a16:creationId xmlns:a16="http://schemas.microsoft.com/office/drawing/2014/main" id="{3B3F835B-4FD5-B96B-47AC-0B248088B4DF}"/>
              </a:ext>
            </a:extLst>
          </p:cNvPr>
          <p:cNvPicPr>
            <a:picLocks noGrp="1" noChangeAspect="1"/>
          </p:cNvPicPr>
          <p:nvPr>
            <p:ph idx="1"/>
          </p:nvPr>
        </p:nvPicPr>
        <p:blipFill>
          <a:blip r:embed="rId6"/>
          <a:stretch>
            <a:fillRect/>
          </a:stretch>
        </p:blipFill>
        <p:spPr>
          <a:xfrm>
            <a:off x="191865" y="1712174"/>
            <a:ext cx="7227592" cy="3957106"/>
          </a:xfrm>
          <a:prstGeom prst="rect">
            <a:avLst/>
          </a:prstGeom>
          <a:effectLst/>
        </p:spPr>
      </p:pic>
    </p:spTree>
    <p:extLst>
      <p:ext uri="{BB962C8B-B14F-4D97-AF65-F5344CB8AC3E}">
        <p14:creationId xmlns:p14="http://schemas.microsoft.com/office/powerpoint/2010/main" val="104555580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552E4-8329-4CDA-C8BA-CA719FCC4343}"/>
              </a:ext>
            </a:extLst>
          </p:cNvPr>
          <p:cNvSpPr>
            <a:spLocks noGrp="1"/>
          </p:cNvSpPr>
          <p:nvPr>
            <p:ph type="title"/>
          </p:nvPr>
        </p:nvSpPr>
        <p:spPr>
          <a:xfrm>
            <a:off x="8191925" y="1325880"/>
            <a:ext cx="3352375" cy="3066507"/>
          </a:xfrm>
        </p:spPr>
        <p:txBody>
          <a:bodyPr vert="horz" lIns="91440" tIns="45720" rIns="91440" bIns="45720" rtlCol="0" anchor="b">
            <a:normAutofit/>
          </a:bodyPr>
          <a:lstStyle/>
          <a:p>
            <a:pPr rtl="0">
              <a:lnSpc>
                <a:spcPct val="90000"/>
              </a:lnSpc>
            </a:pPr>
            <a:r>
              <a:rPr lang="en-US" sz="1800" b="0" i="0" kern="1200">
                <a:solidFill>
                  <a:srgbClr val="EBEBEB"/>
                </a:solidFill>
                <a:latin typeface="+mj-lt"/>
                <a:ea typeface="+mj-ea"/>
                <a:cs typeface="+mj-cs"/>
              </a:rPr>
              <a:t>Here we found a Relation between the (Attack Type) and (Weapon Used) and also used 'area' plot for good frequency plotting and we can find out like that at kidnapping situation a lot of firearms are used according to the graph.</a:t>
            </a:r>
          </a:p>
          <a:p>
            <a:pPr rtl="0">
              <a:lnSpc>
                <a:spcPct val="90000"/>
              </a:lnSpc>
            </a:pPr>
            <a:endParaRPr lang="en-US" sz="1800" b="0" i="0" kern="1200">
              <a:solidFill>
                <a:srgbClr val="EBEBEB"/>
              </a:solidFill>
              <a:latin typeface="+mj-lt"/>
              <a:ea typeface="+mj-ea"/>
              <a:cs typeface="+mj-cs"/>
            </a:endParaRPr>
          </a:p>
        </p:txBody>
      </p:sp>
      <p:sp>
        <p:nvSpPr>
          <p:cNvPr id="2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4" descr="A picture containing shape&#10;&#10;Description automatically generated">
            <a:extLst>
              <a:ext uri="{FF2B5EF4-FFF2-40B4-BE49-F238E27FC236}">
                <a16:creationId xmlns:a16="http://schemas.microsoft.com/office/drawing/2014/main" id="{2FB8126B-F2C0-E390-E343-9DE5575B6E0B}"/>
              </a:ext>
            </a:extLst>
          </p:cNvPr>
          <p:cNvPicPr>
            <a:picLocks noGrp="1" noChangeAspect="1"/>
          </p:cNvPicPr>
          <p:nvPr>
            <p:ph idx="1"/>
          </p:nvPr>
        </p:nvPicPr>
        <p:blipFill>
          <a:blip r:embed="rId6"/>
          <a:stretch>
            <a:fillRect/>
          </a:stretch>
        </p:blipFill>
        <p:spPr>
          <a:xfrm>
            <a:off x="314960" y="1296743"/>
            <a:ext cx="6998156" cy="4758745"/>
          </a:xfrm>
          <a:prstGeom prst="rect">
            <a:avLst/>
          </a:prstGeom>
          <a:effectLst/>
        </p:spPr>
      </p:pic>
    </p:spTree>
    <p:extLst>
      <p:ext uri="{BB962C8B-B14F-4D97-AF65-F5344CB8AC3E}">
        <p14:creationId xmlns:p14="http://schemas.microsoft.com/office/powerpoint/2010/main" val="8576012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3D698-BFB0-B11B-DAC8-D93717F0370E}"/>
              </a:ext>
            </a:extLst>
          </p:cNvPr>
          <p:cNvSpPr>
            <a:spLocks noGrp="1"/>
          </p:cNvSpPr>
          <p:nvPr>
            <p:ph type="title"/>
          </p:nvPr>
        </p:nvSpPr>
        <p:spPr>
          <a:xfrm>
            <a:off x="7385967" y="1325880"/>
            <a:ext cx="4158334" cy="3066507"/>
          </a:xfrm>
        </p:spPr>
        <p:txBody>
          <a:bodyPr vert="horz" lIns="91440" tIns="45720" rIns="91440" bIns="45720" rtlCol="0" anchor="b">
            <a:normAutofit/>
          </a:bodyPr>
          <a:lstStyle/>
          <a:p>
            <a:pPr rtl="0">
              <a:lnSpc>
                <a:spcPct val="90000"/>
              </a:lnSpc>
            </a:pPr>
            <a:r>
              <a:rPr lang="en-US" sz="1800" b="0" i="0" kern="1200">
                <a:solidFill>
                  <a:srgbClr val="EBEBEB"/>
                </a:solidFill>
                <a:latin typeface="+mj-lt"/>
                <a:ea typeface="+mj-ea"/>
                <a:cs typeface="+mj-cs"/>
              </a:rPr>
              <a:t>This graph to compare which weapons used on different targets.</a:t>
            </a:r>
            <a:br>
              <a:rPr lang="en-US" sz="1800" b="0" i="0" kern="1200">
                <a:solidFill>
                  <a:srgbClr val="EBEBEB"/>
                </a:solidFill>
                <a:latin typeface="+mj-lt"/>
                <a:ea typeface="+mj-ea"/>
                <a:cs typeface="+mj-cs"/>
              </a:rPr>
            </a:br>
            <a:r>
              <a:rPr lang="en-US" sz="1800" b="0" i="0" kern="1200">
                <a:solidFill>
                  <a:srgbClr val="EBEBEB"/>
                </a:solidFill>
                <a:latin typeface="+mj-lt"/>
                <a:ea typeface="+mj-ea"/>
                <a:cs typeface="+mj-cs"/>
              </a:rPr>
              <a:t> we used scatter plot just to get the (intersecting part) not for (quantity).</a:t>
            </a:r>
            <a:br>
              <a:rPr lang="en-US" sz="1800" b="0" i="0" kern="1200">
                <a:solidFill>
                  <a:srgbClr val="EBEBEB"/>
                </a:solidFill>
                <a:latin typeface="+mj-lt"/>
                <a:ea typeface="+mj-ea"/>
                <a:cs typeface="+mj-cs"/>
              </a:rPr>
            </a:br>
            <a:r>
              <a:rPr lang="en-US" sz="1800" b="0" i="0" kern="1200">
                <a:solidFill>
                  <a:srgbClr val="EBEBEB"/>
                </a:solidFill>
                <a:latin typeface="+mj-lt"/>
                <a:ea typeface="+mj-ea"/>
                <a:cs typeface="+mj-cs"/>
              </a:rPr>
              <a:t>From the graph we can find out that explosives and firearms are actually used approximately on every target.</a:t>
            </a:r>
          </a:p>
        </p:txBody>
      </p:sp>
      <p:sp>
        <p:nvSpPr>
          <p:cNvPr id="2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sp>
      <p:sp>
        <p:nvSpPr>
          <p:cNvPr id="27" name="Rectangle 26">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4" descr="A picture containing scatter chart&#10;&#10;Description automatically generated">
            <a:extLst>
              <a:ext uri="{FF2B5EF4-FFF2-40B4-BE49-F238E27FC236}">
                <a16:creationId xmlns:a16="http://schemas.microsoft.com/office/drawing/2014/main" id="{476BEB3E-9130-2AAF-C191-3F6B26E2A32F}"/>
              </a:ext>
            </a:extLst>
          </p:cNvPr>
          <p:cNvPicPr>
            <a:picLocks noGrp="1" noChangeAspect="1"/>
          </p:cNvPicPr>
          <p:nvPr>
            <p:ph idx="1"/>
          </p:nvPr>
        </p:nvPicPr>
        <p:blipFill>
          <a:blip r:embed="rId6"/>
          <a:stretch>
            <a:fillRect/>
          </a:stretch>
        </p:blipFill>
        <p:spPr>
          <a:xfrm>
            <a:off x="88147" y="1188799"/>
            <a:ext cx="6310423" cy="4480400"/>
          </a:xfrm>
          <a:prstGeom prst="rect">
            <a:avLst/>
          </a:prstGeom>
          <a:effectLst/>
        </p:spPr>
      </p:pic>
    </p:spTree>
    <p:extLst>
      <p:ext uri="{BB962C8B-B14F-4D97-AF65-F5344CB8AC3E}">
        <p14:creationId xmlns:p14="http://schemas.microsoft.com/office/powerpoint/2010/main" val="93943946"/>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AF24C-FDCF-350A-0548-1CE174808194}"/>
              </a:ext>
            </a:extLst>
          </p:cNvPr>
          <p:cNvSpPr>
            <a:spLocks noGrp="1"/>
          </p:cNvSpPr>
          <p:nvPr>
            <p:ph type="title"/>
          </p:nvPr>
        </p:nvSpPr>
        <p:spPr>
          <a:xfrm>
            <a:off x="8191925" y="1325880"/>
            <a:ext cx="3352375" cy="3066507"/>
          </a:xfrm>
        </p:spPr>
        <p:txBody>
          <a:bodyPr vert="horz" lIns="91440" tIns="45720" rIns="91440" bIns="45720" rtlCol="0" anchor="b">
            <a:normAutofit/>
          </a:bodyPr>
          <a:lstStyle/>
          <a:p>
            <a:pPr rtl="0">
              <a:lnSpc>
                <a:spcPct val="90000"/>
              </a:lnSpc>
            </a:pPr>
            <a:r>
              <a:rPr lang="en-US" sz="1800" b="0" i="0" kern="1200">
                <a:solidFill>
                  <a:srgbClr val="EBEBEB"/>
                </a:solidFill>
                <a:latin typeface="+mj-lt"/>
                <a:ea typeface="+mj-ea"/>
                <a:cs typeface="+mj-cs"/>
              </a:rPr>
              <a:t>We used the barplot for visualization of the (number of attacks last 50 yeasr) to compare their values and the (targeted places) targeted places on the x-axis while values on y-axis. From the graph we can find out that transportation is the most targeted place in last 50 years.</a:t>
            </a:r>
          </a:p>
        </p:txBody>
      </p:sp>
      <p:sp>
        <p:nvSpPr>
          <p:cNvPr id="2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4" descr="Chart, bar chart&#10;&#10;Description automatically generated">
            <a:extLst>
              <a:ext uri="{FF2B5EF4-FFF2-40B4-BE49-F238E27FC236}">
                <a16:creationId xmlns:a16="http://schemas.microsoft.com/office/drawing/2014/main" id="{10488FEB-938C-2CAE-46F1-927039B0F590}"/>
              </a:ext>
            </a:extLst>
          </p:cNvPr>
          <p:cNvPicPr>
            <a:picLocks noGrp="1" noChangeAspect="1"/>
          </p:cNvPicPr>
          <p:nvPr>
            <p:ph idx="1"/>
          </p:nvPr>
        </p:nvPicPr>
        <p:blipFill>
          <a:blip r:embed="rId6"/>
          <a:stretch>
            <a:fillRect/>
          </a:stretch>
        </p:blipFill>
        <p:spPr>
          <a:xfrm>
            <a:off x="313489" y="1141408"/>
            <a:ext cx="7045141" cy="4649792"/>
          </a:xfrm>
          <a:prstGeom prst="rect">
            <a:avLst/>
          </a:prstGeom>
          <a:effectLst/>
        </p:spPr>
      </p:pic>
    </p:spTree>
    <p:extLst>
      <p:ext uri="{BB962C8B-B14F-4D97-AF65-F5344CB8AC3E}">
        <p14:creationId xmlns:p14="http://schemas.microsoft.com/office/powerpoint/2010/main" val="242394502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4A11D1-6963-485E-86DE-760B07434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3FCF50-DA80-0731-F923-A2DD87652542}"/>
              </a:ext>
            </a:extLst>
          </p:cNvPr>
          <p:cNvSpPr>
            <a:spLocks noGrp="1"/>
          </p:cNvSpPr>
          <p:nvPr>
            <p:ph type="title"/>
          </p:nvPr>
        </p:nvSpPr>
        <p:spPr>
          <a:xfrm>
            <a:off x="635223" y="629266"/>
            <a:ext cx="3116690" cy="5594554"/>
          </a:xfrm>
        </p:spPr>
        <p:txBody>
          <a:bodyPr anchor="ctr">
            <a:normAutofit/>
          </a:bodyPr>
          <a:lstStyle/>
          <a:p>
            <a:r>
              <a:rPr lang="en-US" sz="3700">
                <a:solidFill>
                  <a:srgbClr val="EBEBEB"/>
                </a:solidFill>
                <a:latin typeface="The Seasons"/>
              </a:rPr>
              <a:t>Normalization</a:t>
            </a:r>
            <a:endParaRPr lang="en-US" sz="3700">
              <a:solidFill>
                <a:srgbClr val="EBEBEB"/>
              </a:solidFill>
            </a:endParaRPr>
          </a:p>
        </p:txBody>
      </p:sp>
      <p:sp>
        <p:nvSpPr>
          <p:cNvPr id="12" name="Freeform 7">
            <a:extLst>
              <a:ext uri="{FF2B5EF4-FFF2-40B4-BE49-F238E27FC236}">
                <a16:creationId xmlns:a16="http://schemas.microsoft.com/office/drawing/2014/main" id="{93BDF132-E4EF-4CB3-9A12-1EB75E159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F8486D32-0A56-4407-A9D1-7AFC16946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B73FE0C2-11C7-466D-B4BA-0330484CD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39024C2E-5FE8-2CD2-0B54-2BF9F810A576}"/>
              </a:ext>
            </a:extLst>
          </p:cNvPr>
          <p:cNvSpPr>
            <a:spLocks noGrp="1"/>
          </p:cNvSpPr>
          <p:nvPr>
            <p:ph idx="1"/>
          </p:nvPr>
        </p:nvSpPr>
        <p:spPr>
          <a:xfrm>
            <a:off x="5048452" y="1410458"/>
            <a:ext cx="6495847" cy="2589913"/>
          </a:xfrm>
        </p:spPr>
        <p:txBody>
          <a:bodyPr>
            <a:normAutofit/>
          </a:bodyPr>
          <a:lstStyle/>
          <a:p>
            <a:pPr algn="l" rtl="0"/>
            <a:r>
              <a:rPr lang="en-US" dirty="0">
                <a:latin typeface="Quincy Bold Italics"/>
              </a:rPr>
              <a:t>We start by initializing</a:t>
            </a:r>
          </a:p>
          <a:p>
            <a:pPr algn="l" rtl="0"/>
            <a:r>
              <a:rPr lang="en-US" dirty="0">
                <a:latin typeface="Quincy Bold Italics"/>
              </a:rPr>
              <a:t> a Standard Scaler object. </a:t>
            </a:r>
          </a:p>
          <a:p>
            <a:pPr algn="l" rtl="0"/>
            <a:r>
              <a:rPr lang="en-US" dirty="0">
                <a:latin typeface="Quincy Bold Italics"/>
              </a:rPr>
              <a:t>The This helps in standardizing the dataset that is essential before applying machine learning </a:t>
            </a:r>
          </a:p>
          <a:p>
            <a:pPr algn="l" rtl="0"/>
            <a:r>
              <a:rPr lang="en-US" dirty="0">
                <a:latin typeface="Quincy Bold Italics"/>
              </a:rPr>
              <a:t>algorithms.</a:t>
            </a:r>
          </a:p>
          <a:p>
            <a:pPr algn="l" rtl="0"/>
            <a:endParaRPr lang="en-US" dirty="0"/>
          </a:p>
        </p:txBody>
      </p:sp>
      <p:pic>
        <p:nvPicPr>
          <p:cNvPr id="6" name="Picture 5">
            <a:extLst>
              <a:ext uri="{FF2B5EF4-FFF2-40B4-BE49-F238E27FC236}">
                <a16:creationId xmlns:a16="http://schemas.microsoft.com/office/drawing/2014/main" id="{2DCF0D79-EDFC-82E6-702E-14D3A9A5F683}"/>
              </a:ext>
            </a:extLst>
          </p:cNvPr>
          <p:cNvPicPr>
            <a:picLocks noChangeAspect="1"/>
          </p:cNvPicPr>
          <p:nvPr/>
        </p:nvPicPr>
        <p:blipFill>
          <a:blip r:embed="rId2"/>
          <a:stretch>
            <a:fillRect/>
          </a:stretch>
        </p:blipFill>
        <p:spPr>
          <a:xfrm>
            <a:off x="4711347" y="3800257"/>
            <a:ext cx="7170055" cy="2539820"/>
          </a:xfrm>
          <a:prstGeom prst="rect">
            <a:avLst/>
          </a:prstGeom>
        </p:spPr>
      </p:pic>
    </p:spTree>
    <p:extLst>
      <p:ext uri="{BB962C8B-B14F-4D97-AF65-F5344CB8AC3E}">
        <p14:creationId xmlns:p14="http://schemas.microsoft.com/office/powerpoint/2010/main" val="266390745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4A11D1-6963-485E-86DE-760B07434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CF32DA-FE01-4B66-7050-0F97BCA2C391}"/>
              </a:ext>
            </a:extLst>
          </p:cNvPr>
          <p:cNvSpPr>
            <a:spLocks noGrp="1"/>
          </p:cNvSpPr>
          <p:nvPr>
            <p:ph type="title"/>
          </p:nvPr>
        </p:nvSpPr>
        <p:spPr>
          <a:xfrm>
            <a:off x="635223" y="629266"/>
            <a:ext cx="3116690" cy="5594554"/>
          </a:xfrm>
        </p:spPr>
        <p:txBody>
          <a:bodyPr anchor="ctr">
            <a:normAutofit/>
          </a:bodyPr>
          <a:lstStyle/>
          <a:p>
            <a:r>
              <a:rPr lang="en-US" sz="3700">
                <a:solidFill>
                  <a:srgbClr val="EBEBEB"/>
                </a:solidFill>
              </a:rPr>
              <a:t>Normaliztion</a:t>
            </a:r>
            <a:endParaRPr lang="ar-EG" sz="3700">
              <a:solidFill>
                <a:srgbClr val="EBEBEB"/>
              </a:solidFill>
            </a:endParaRPr>
          </a:p>
        </p:txBody>
      </p:sp>
      <p:sp>
        <p:nvSpPr>
          <p:cNvPr id="14" name="Freeform 7">
            <a:extLst>
              <a:ext uri="{FF2B5EF4-FFF2-40B4-BE49-F238E27FC236}">
                <a16:creationId xmlns:a16="http://schemas.microsoft.com/office/drawing/2014/main" id="{93BDF132-E4EF-4CB3-9A12-1EB75E159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F8486D32-0A56-4407-A9D1-7AFC16946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B73FE0C2-11C7-466D-B4BA-0330484CD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2F0E7B41-4778-6EC7-B262-28F99BEA39D8}"/>
              </a:ext>
            </a:extLst>
          </p:cNvPr>
          <p:cNvSpPr>
            <a:spLocks noGrp="1"/>
          </p:cNvSpPr>
          <p:nvPr>
            <p:ph idx="1"/>
          </p:nvPr>
        </p:nvSpPr>
        <p:spPr>
          <a:xfrm>
            <a:off x="5048452" y="1410458"/>
            <a:ext cx="6495847" cy="4431542"/>
          </a:xfrm>
        </p:spPr>
        <p:txBody>
          <a:bodyPr>
            <a:noAutofit/>
          </a:bodyPr>
          <a:lstStyle/>
          <a:p>
            <a:pPr algn="l" rtl="0">
              <a:lnSpc>
                <a:spcPct val="90000"/>
              </a:lnSpc>
              <a:buFont typeface="+mj-lt"/>
              <a:buAutoNum type="arabicPeriod"/>
            </a:pPr>
            <a:r>
              <a:rPr lang="en-US" b="0" i="0" dirty="0">
                <a:effectLst/>
                <a:latin typeface="Söhne"/>
              </a:rPr>
              <a:t>Calculation of Mean and Standard Deviation: The first step in </a:t>
            </a:r>
            <a:r>
              <a:rPr lang="en-US" b="0" i="0" dirty="0" err="1">
                <a:effectLst/>
                <a:latin typeface="Söhne"/>
              </a:rPr>
              <a:t>StandardScaler</a:t>
            </a:r>
            <a:r>
              <a:rPr lang="en-US" b="0" i="0" dirty="0">
                <a:effectLst/>
                <a:latin typeface="Söhne"/>
              </a:rPr>
              <a:t> normalization is to calculate the mean (μ) and standard deviation (σ) of the feature or variable to be normalized. The mean represents the average value of the feature, while the standard deviation measures the spread or dispersion of the values.</a:t>
            </a:r>
          </a:p>
          <a:p>
            <a:pPr algn="l" rtl="0">
              <a:lnSpc>
                <a:spcPct val="90000"/>
              </a:lnSpc>
              <a:buFont typeface="+mj-lt"/>
              <a:buAutoNum type="arabicPeriod"/>
            </a:pPr>
            <a:r>
              <a:rPr lang="en-US" b="0" i="0" dirty="0">
                <a:effectLst/>
                <a:latin typeface="Söhne"/>
              </a:rPr>
              <a:t>Centering the Data: In this step, the mean value of the feature is subtracted from each data point to center the data around zero. This process helps in removing any bias or offset in the data.</a:t>
            </a:r>
          </a:p>
          <a:p>
            <a:pPr algn="l" rtl="0">
              <a:lnSpc>
                <a:spcPct val="90000"/>
              </a:lnSpc>
              <a:buFont typeface="+mj-lt"/>
              <a:buAutoNum type="arabicPeriod"/>
            </a:pPr>
            <a:r>
              <a:rPr lang="en-US" b="0" i="0" dirty="0">
                <a:effectLst/>
                <a:latin typeface="Söhne"/>
              </a:rPr>
              <a:t>Scaling the Data: After centering the data, the next step is to divide each data point by the standard deviation. This scaling operation ensures that the data has a standard deviation of 1. It effectively transforms the data to have a unit variance</a:t>
            </a:r>
          </a:p>
        </p:txBody>
      </p:sp>
    </p:spTree>
    <p:extLst>
      <p:ext uri="{BB962C8B-B14F-4D97-AF65-F5344CB8AC3E}">
        <p14:creationId xmlns:p14="http://schemas.microsoft.com/office/powerpoint/2010/main" val="342609982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91A2CC-2AFC-3871-43A5-CDD7C9306F37}"/>
              </a:ext>
            </a:extLst>
          </p:cNvPr>
          <p:cNvSpPr>
            <a:spLocks noGrp="1"/>
          </p:cNvSpPr>
          <p:nvPr>
            <p:ph type="title"/>
          </p:nvPr>
        </p:nvSpPr>
        <p:spPr>
          <a:xfrm>
            <a:off x="648931" y="629266"/>
            <a:ext cx="4166510" cy="1622321"/>
          </a:xfrm>
        </p:spPr>
        <p:txBody>
          <a:bodyPr>
            <a:normAutofit/>
          </a:bodyPr>
          <a:lstStyle/>
          <a:p>
            <a:r>
              <a:rPr lang="en-US" dirty="0">
                <a:solidFill>
                  <a:srgbClr val="EBEBEB"/>
                </a:solidFill>
              </a:rPr>
              <a:t>Split</a:t>
            </a:r>
            <a:endParaRPr lang="ar-EG" dirty="0">
              <a:solidFill>
                <a:srgbClr val="EBEBEB"/>
              </a:solidFill>
            </a:endParaRPr>
          </a:p>
        </p:txBody>
      </p:sp>
      <p:sp>
        <p:nvSpPr>
          <p:cNvPr id="23"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pic>
        <p:nvPicPr>
          <p:cNvPr id="5" name="Picture 4" descr="A picture containing text, screenshot, font, line&#10;&#10;Description automatically generated">
            <a:extLst>
              <a:ext uri="{FF2B5EF4-FFF2-40B4-BE49-F238E27FC236}">
                <a16:creationId xmlns:a16="http://schemas.microsoft.com/office/drawing/2014/main" id="{6BBD3088-1A0E-3565-7EC0-86F404068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992" y="2751439"/>
            <a:ext cx="5449889" cy="1614616"/>
          </a:xfrm>
          <a:prstGeom prst="rect">
            <a:avLst/>
          </a:prstGeom>
          <a:effectLst/>
        </p:spPr>
      </p:pic>
      <p:sp>
        <p:nvSpPr>
          <p:cNvPr id="27" name="Rectangle 26">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49992E05-DECC-605C-9DEC-C7D82F33A374}"/>
              </a:ext>
            </a:extLst>
          </p:cNvPr>
          <p:cNvSpPr>
            <a:spLocks noGrp="1"/>
          </p:cNvSpPr>
          <p:nvPr>
            <p:ph idx="1"/>
          </p:nvPr>
        </p:nvSpPr>
        <p:spPr>
          <a:xfrm>
            <a:off x="648931" y="2438400"/>
            <a:ext cx="4166509" cy="3785419"/>
          </a:xfrm>
        </p:spPr>
        <p:txBody>
          <a:bodyPr>
            <a:normAutofit/>
          </a:bodyPr>
          <a:lstStyle/>
          <a:p>
            <a:pPr algn="l" rtl="0"/>
            <a:r>
              <a:rPr lang="en-US" dirty="0">
                <a:solidFill>
                  <a:srgbClr val="EBEBEB"/>
                </a:solidFill>
                <a:latin typeface="Quincy Bold Italics"/>
              </a:rPr>
              <a:t>This function is used to split the given data X and y into training and testing sets</a:t>
            </a:r>
          </a:p>
          <a:p>
            <a:pPr algn="l" rtl="0"/>
            <a:r>
              <a:rPr lang="en-US" dirty="0" err="1">
                <a:solidFill>
                  <a:srgbClr val="EBEBEB"/>
                </a:solidFill>
                <a:latin typeface="Quincy Bold Italics"/>
              </a:rPr>
              <a:t>test_size</a:t>
            </a:r>
            <a:r>
              <a:rPr lang="en-US" dirty="0">
                <a:solidFill>
                  <a:srgbClr val="EBEBEB"/>
                </a:solidFill>
                <a:latin typeface="Quincy Bold Italics"/>
              </a:rPr>
              <a:t>=0.2 specifies that 20% of the data will be used for testing, while the remaining 80% will be used for training. </a:t>
            </a:r>
          </a:p>
          <a:p>
            <a:pPr rtl="0"/>
            <a:endParaRPr lang="en-US" dirty="0">
              <a:solidFill>
                <a:srgbClr val="EBEBEB"/>
              </a:solidFill>
              <a:latin typeface="Quincy Bold Italics"/>
            </a:endParaRPr>
          </a:p>
          <a:p>
            <a:pPr rtl="0"/>
            <a:endParaRPr lang="ar-EG" dirty="0">
              <a:solidFill>
                <a:srgbClr val="EBEBEB"/>
              </a:solidFill>
            </a:endParaRPr>
          </a:p>
        </p:txBody>
      </p:sp>
    </p:spTree>
    <p:extLst>
      <p:ext uri="{BB962C8B-B14F-4D97-AF65-F5344CB8AC3E}">
        <p14:creationId xmlns:p14="http://schemas.microsoft.com/office/powerpoint/2010/main" val="3950358254"/>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ECB97-66F0-0268-7BA9-F13172734EA5}"/>
              </a:ext>
            </a:extLst>
          </p:cNvPr>
          <p:cNvSpPr>
            <a:spLocks noGrp="1"/>
          </p:cNvSpPr>
          <p:nvPr>
            <p:ph type="title"/>
          </p:nvPr>
        </p:nvSpPr>
        <p:spPr>
          <a:xfrm>
            <a:off x="7385967" y="1325880"/>
            <a:ext cx="4158334" cy="3066507"/>
          </a:xfrm>
        </p:spPr>
        <p:txBody>
          <a:bodyPr vert="horz" lIns="91440" tIns="45720" rIns="91440" bIns="45720" rtlCol="0" anchor="b">
            <a:normAutofit/>
          </a:bodyPr>
          <a:lstStyle/>
          <a:p>
            <a:pPr rtl="0"/>
            <a:r>
              <a:rPr lang="en-US" sz="5400" b="0" i="0" kern="1200">
                <a:solidFill>
                  <a:srgbClr val="EBEBEB"/>
                </a:solidFill>
                <a:latin typeface="+mj-lt"/>
                <a:ea typeface="+mj-ea"/>
                <a:cs typeface="+mj-cs"/>
              </a:rPr>
              <a:t>Algorithm</a:t>
            </a:r>
          </a:p>
        </p:txBody>
      </p:sp>
      <p:sp>
        <p:nvSpPr>
          <p:cNvPr id="2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sp>
      <p:sp>
        <p:nvSpPr>
          <p:cNvPr id="27" name="Rectangle 26">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Graphic 5" descr="Programmer">
            <a:extLst>
              <a:ext uri="{FF2B5EF4-FFF2-40B4-BE49-F238E27FC236}">
                <a16:creationId xmlns:a16="http://schemas.microsoft.com/office/drawing/2014/main" id="{6500D63C-BA30-D3C8-8069-546FC87938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854" y="703489"/>
            <a:ext cx="5450557" cy="5450557"/>
          </a:xfrm>
          <a:prstGeom prst="rect">
            <a:avLst/>
          </a:prstGeom>
          <a:effectLst/>
        </p:spPr>
      </p:pic>
    </p:spTree>
    <p:extLst>
      <p:ext uri="{BB962C8B-B14F-4D97-AF65-F5344CB8AC3E}">
        <p14:creationId xmlns:p14="http://schemas.microsoft.com/office/powerpoint/2010/main" val="198061251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362849A-570D-49DB-954C-63F144E88A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A42011-E478-428B-9D15-A98E338BF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4" name="Freeform 7">
            <a:extLst>
              <a:ext uri="{FF2B5EF4-FFF2-40B4-BE49-F238E27FC236}">
                <a16:creationId xmlns:a16="http://schemas.microsoft.com/office/drawing/2014/main" id="{9ED2773C-FE51-4632-BA46-036BDCDA6E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C669C2D-9740-9E3B-3F06-E562FDD90783}"/>
              </a:ext>
            </a:extLst>
          </p:cNvPr>
          <p:cNvSpPr>
            <a:spLocks noGrp="1"/>
          </p:cNvSpPr>
          <p:nvPr>
            <p:ph type="title"/>
          </p:nvPr>
        </p:nvSpPr>
        <p:spPr>
          <a:xfrm>
            <a:off x="648930" y="629267"/>
            <a:ext cx="9252154" cy="1016654"/>
          </a:xfrm>
        </p:spPr>
        <p:txBody>
          <a:bodyPr>
            <a:normAutofit/>
          </a:bodyPr>
          <a:lstStyle/>
          <a:p>
            <a:r>
              <a:rPr lang="en-US" dirty="0" err="1">
                <a:solidFill>
                  <a:srgbClr val="EBEBEB"/>
                </a:solidFill>
              </a:rPr>
              <a:t>LinearRegression</a:t>
            </a:r>
            <a:endParaRPr lang="ar-EG" dirty="0">
              <a:solidFill>
                <a:srgbClr val="EBEBEB"/>
              </a:solidFill>
            </a:endParaRPr>
          </a:p>
        </p:txBody>
      </p:sp>
      <p:sp useBgFill="1">
        <p:nvSpPr>
          <p:cNvPr id="16" name="Freeform: Shape 15">
            <a:extLst>
              <a:ext uri="{FF2B5EF4-FFF2-40B4-BE49-F238E27FC236}">
                <a16:creationId xmlns:a16="http://schemas.microsoft.com/office/drawing/2014/main" id="{E02F9158-C4C2-46A8-BE73-A4F77E139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3" name="Content Placeholder 2">
            <a:extLst>
              <a:ext uri="{FF2B5EF4-FFF2-40B4-BE49-F238E27FC236}">
                <a16:creationId xmlns:a16="http://schemas.microsoft.com/office/drawing/2014/main" id="{D59C2110-4136-22BB-C40E-8A3DF83D5F1B}"/>
              </a:ext>
            </a:extLst>
          </p:cNvPr>
          <p:cNvSpPr>
            <a:spLocks noGrp="1"/>
          </p:cNvSpPr>
          <p:nvPr>
            <p:ph idx="1"/>
          </p:nvPr>
        </p:nvSpPr>
        <p:spPr>
          <a:xfrm>
            <a:off x="6421089" y="2548281"/>
            <a:ext cx="5122606" cy="3658689"/>
          </a:xfrm>
        </p:spPr>
        <p:txBody>
          <a:bodyPr>
            <a:normAutofit/>
          </a:bodyPr>
          <a:lstStyle/>
          <a:p>
            <a:pPr algn="l" rtl="0">
              <a:lnSpc>
                <a:spcPct val="90000"/>
              </a:lnSpc>
            </a:pPr>
            <a:br>
              <a:rPr lang="en-US" dirty="0"/>
            </a:br>
            <a:r>
              <a:rPr lang="en-US" b="0" i="0" dirty="0">
                <a:effectLst/>
                <a:latin typeface="Söhne"/>
              </a:rPr>
              <a:t>Linear regression is a widely used statistical technique for modeling the relationship between a dependent variable and one or more independent variables. It assumes a linear relationship between the variables, where the dependent variable can be predicted or explained by a linear combination of the independent variables. Linear regression is a parametric approach, meaning it makes certain assumptions about the data and seeks to estimate the parameters that best fit the data</a:t>
            </a:r>
            <a:endParaRPr lang="ar-EG" dirty="0"/>
          </a:p>
        </p:txBody>
      </p:sp>
      <p:pic>
        <p:nvPicPr>
          <p:cNvPr id="6" name="Picture 5">
            <a:extLst>
              <a:ext uri="{FF2B5EF4-FFF2-40B4-BE49-F238E27FC236}">
                <a16:creationId xmlns:a16="http://schemas.microsoft.com/office/drawing/2014/main" id="{833B8277-2A8F-620D-A6E0-FEE852C0213A}"/>
              </a:ext>
            </a:extLst>
          </p:cNvPr>
          <p:cNvPicPr>
            <a:picLocks noChangeAspect="1"/>
          </p:cNvPicPr>
          <p:nvPr/>
        </p:nvPicPr>
        <p:blipFill>
          <a:blip r:embed="rId2"/>
          <a:stretch>
            <a:fillRect/>
          </a:stretch>
        </p:blipFill>
        <p:spPr>
          <a:xfrm>
            <a:off x="913951" y="3501249"/>
            <a:ext cx="5182049" cy="1752752"/>
          </a:xfrm>
          <a:prstGeom prst="rect">
            <a:avLst/>
          </a:prstGeom>
        </p:spPr>
      </p:pic>
    </p:spTree>
    <p:extLst>
      <p:ext uri="{BB962C8B-B14F-4D97-AF65-F5344CB8AC3E}">
        <p14:creationId xmlns:p14="http://schemas.microsoft.com/office/powerpoint/2010/main" val="213469328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4"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A80E728-81D6-ED60-A757-BAC6A56AFB6C}"/>
              </a:ext>
            </a:extLst>
          </p:cNvPr>
          <p:cNvSpPr>
            <a:spLocks noGrp="1"/>
          </p:cNvSpPr>
          <p:nvPr>
            <p:ph type="title"/>
          </p:nvPr>
        </p:nvSpPr>
        <p:spPr>
          <a:xfrm>
            <a:off x="648930" y="629267"/>
            <a:ext cx="9252154" cy="1016654"/>
          </a:xfrm>
        </p:spPr>
        <p:txBody>
          <a:bodyPr>
            <a:normAutofit/>
          </a:bodyPr>
          <a:lstStyle/>
          <a:p>
            <a:r>
              <a:rPr lang="en-US" dirty="0">
                <a:solidFill>
                  <a:srgbClr val="EBEBEB"/>
                </a:solidFill>
              </a:rPr>
              <a:t>Decision Tree</a:t>
            </a:r>
            <a:endParaRPr lang="ar-EG" dirty="0">
              <a:solidFill>
                <a:srgbClr val="EBEBEB"/>
              </a:solidFill>
            </a:endParaRPr>
          </a:p>
        </p:txBody>
      </p:sp>
      <p:sp useBgFill="1">
        <p:nvSpPr>
          <p:cNvPr id="16" name="Freeform: Shape 15">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3" name="Content Placeholder 2">
            <a:extLst>
              <a:ext uri="{FF2B5EF4-FFF2-40B4-BE49-F238E27FC236}">
                <a16:creationId xmlns:a16="http://schemas.microsoft.com/office/drawing/2014/main" id="{141D516E-73EF-1021-48AD-E0C8D90FB394}"/>
              </a:ext>
            </a:extLst>
          </p:cNvPr>
          <p:cNvSpPr>
            <a:spLocks noGrp="1"/>
          </p:cNvSpPr>
          <p:nvPr>
            <p:ph idx="1"/>
          </p:nvPr>
        </p:nvSpPr>
        <p:spPr>
          <a:xfrm>
            <a:off x="6765251" y="2742494"/>
            <a:ext cx="5122606" cy="3658689"/>
          </a:xfrm>
        </p:spPr>
        <p:txBody>
          <a:bodyPr>
            <a:normAutofit/>
          </a:bodyPr>
          <a:lstStyle/>
          <a:p>
            <a:pPr algn="l" rtl="0"/>
            <a:r>
              <a:rPr lang="en-US" b="0" i="0" dirty="0">
                <a:effectLst/>
                <a:latin typeface="Söhne"/>
              </a:rPr>
              <a:t>A Decision Tree is a popular supervised machine learning algorithm used for both classification and regression tasks. It is a non-parametric model that predicts the target variable by learning simple decision rules inferred from the data features. The Decision Tree algorithm builds a tree-like model where each internal node represents a feature or attribute, each branch represents a decision rule, and each leaf node represents an outcome or class label</a:t>
            </a:r>
            <a:endParaRPr lang="ar-EG" dirty="0"/>
          </a:p>
        </p:txBody>
      </p:sp>
      <p:pic>
        <p:nvPicPr>
          <p:cNvPr id="6" name="Picture 5">
            <a:extLst>
              <a:ext uri="{FF2B5EF4-FFF2-40B4-BE49-F238E27FC236}">
                <a16:creationId xmlns:a16="http://schemas.microsoft.com/office/drawing/2014/main" id="{AFCD81A6-CC51-EC7D-635F-BA947557A682}"/>
              </a:ext>
            </a:extLst>
          </p:cNvPr>
          <p:cNvPicPr>
            <a:picLocks noChangeAspect="1"/>
          </p:cNvPicPr>
          <p:nvPr/>
        </p:nvPicPr>
        <p:blipFill>
          <a:blip r:embed="rId2"/>
          <a:stretch>
            <a:fillRect/>
          </a:stretch>
        </p:blipFill>
        <p:spPr>
          <a:xfrm>
            <a:off x="1034456" y="3490812"/>
            <a:ext cx="4999153" cy="1638442"/>
          </a:xfrm>
          <a:prstGeom prst="rect">
            <a:avLst/>
          </a:prstGeom>
        </p:spPr>
      </p:pic>
    </p:spTree>
    <p:extLst>
      <p:ext uri="{BB962C8B-B14F-4D97-AF65-F5344CB8AC3E}">
        <p14:creationId xmlns:p14="http://schemas.microsoft.com/office/powerpoint/2010/main" val="3797671772"/>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9B794E-5C63-9F74-D825-F02A69AA34A5}"/>
              </a:ext>
            </a:extLst>
          </p:cNvPr>
          <p:cNvSpPr>
            <a:spLocks noGrp="1"/>
          </p:cNvSpPr>
          <p:nvPr>
            <p:ph type="title"/>
          </p:nvPr>
        </p:nvSpPr>
        <p:spPr>
          <a:xfrm>
            <a:off x="5411931" y="452718"/>
            <a:ext cx="4638903" cy="1400530"/>
          </a:xfrm>
        </p:spPr>
        <p:txBody>
          <a:bodyPr>
            <a:normAutofit/>
          </a:bodyPr>
          <a:lstStyle/>
          <a:p>
            <a:r>
              <a:rPr lang="en-US" sz="4800" dirty="0"/>
              <a:t>Conclusion</a:t>
            </a:r>
            <a:endParaRPr lang="ar-EG" sz="4800" dirty="0"/>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rrows pointing towards light">
            <a:extLst>
              <a:ext uri="{FF2B5EF4-FFF2-40B4-BE49-F238E27FC236}">
                <a16:creationId xmlns:a16="http://schemas.microsoft.com/office/drawing/2014/main" id="{35D176E4-357F-4AFC-8BD6-669664E1F235}"/>
              </a:ext>
            </a:extLst>
          </p:cNvPr>
          <p:cNvPicPr>
            <a:picLocks noChangeAspect="1"/>
          </p:cNvPicPr>
          <p:nvPr/>
        </p:nvPicPr>
        <p:blipFill rotWithShape="1">
          <a:blip r:embed="rId3"/>
          <a:srcRect l="5934" r="45661"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3" name="Rectangle 1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9A6BE318-7A06-58C6-640B-95583B2E2AC1}"/>
              </a:ext>
            </a:extLst>
          </p:cNvPr>
          <p:cNvSpPr>
            <a:spLocks noGrp="1"/>
          </p:cNvSpPr>
          <p:nvPr>
            <p:ph idx="1"/>
          </p:nvPr>
        </p:nvSpPr>
        <p:spPr>
          <a:xfrm>
            <a:off x="5410950" y="2052918"/>
            <a:ext cx="4638903" cy="4195481"/>
          </a:xfrm>
        </p:spPr>
        <p:txBody>
          <a:bodyPr>
            <a:normAutofit/>
          </a:bodyPr>
          <a:lstStyle/>
          <a:p>
            <a:pPr algn="l" rtl="0"/>
            <a:r>
              <a:rPr lang="en-US" sz="4000" dirty="0"/>
              <a:t>Decision Tree</a:t>
            </a:r>
          </a:p>
          <a:p>
            <a:pPr marL="0" indent="0" algn="l" rtl="0">
              <a:buNone/>
            </a:pPr>
            <a:r>
              <a:rPr lang="en-US" sz="4000" dirty="0"/>
              <a:t>is </a:t>
            </a:r>
            <a:r>
              <a:rPr lang="en-US" sz="4000" dirty="0">
                <a:latin typeface="Quincy Bold Italics"/>
              </a:rPr>
              <a:t>Evaluation more than </a:t>
            </a:r>
            <a:r>
              <a:rPr lang="en-US" sz="4000" dirty="0"/>
              <a:t>Linear Regression </a:t>
            </a:r>
            <a:endParaRPr lang="ar-EG" sz="4000" dirty="0"/>
          </a:p>
        </p:txBody>
      </p:sp>
    </p:spTree>
    <p:extLst>
      <p:ext uri="{BB962C8B-B14F-4D97-AF65-F5344CB8AC3E}">
        <p14:creationId xmlns:p14="http://schemas.microsoft.com/office/powerpoint/2010/main" val="1458369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671C-212E-7155-4FAE-761095A09BEE}"/>
              </a:ext>
            </a:extLst>
          </p:cNvPr>
          <p:cNvSpPr>
            <a:spLocks noGrp="1"/>
          </p:cNvSpPr>
          <p:nvPr>
            <p:ph type="title"/>
          </p:nvPr>
        </p:nvSpPr>
        <p:spPr/>
        <p:txBody>
          <a:bodyPr/>
          <a:lstStyle/>
          <a:p>
            <a:r>
              <a:rPr lang="en-US" b="1">
                <a:cs typeface="Calibri Light"/>
              </a:rPr>
              <a:t>Resources:</a:t>
            </a:r>
            <a:endParaRPr lang="en-US" b="1" dirty="0"/>
          </a:p>
        </p:txBody>
      </p:sp>
      <p:graphicFrame>
        <p:nvGraphicFramePr>
          <p:cNvPr id="7" name="Content Placeholder 2">
            <a:extLst>
              <a:ext uri="{FF2B5EF4-FFF2-40B4-BE49-F238E27FC236}">
                <a16:creationId xmlns:a16="http://schemas.microsoft.com/office/drawing/2014/main" id="{27BC8346-7389-A597-8AD8-1BFC2B061723}"/>
              </a:ext>
            </a:extLst>
          </p:cNvPr>
          <p:cNvGraphicFramePr>
            <a:graphicFrameLocks noGrp="1"/>
          </p:cNvGraphicFramePr>
          <p:nvPr>
            <p:ph idx="1"/>
          </p:nvPr>
        </p:nvGraphicFramePr>
        <p:xfrm>
          <a:off x="1103312" y="2052918"/>
          <a:ext cx="894654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8998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6" name="Picture 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7" name="Picture 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8" name="Oval 1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9" name="Picture 1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1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1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32" name="Picture 3" descr="Bright modern kitchen">
            <a:extLst>
              <a:ext uri="{FF2B5EF4-FFF2-40B4-BE49-F238E27FC236}">
                <a16:creationId xmlns:a16="http://schemas.microsoft.com/office/drawing/2014/main" id="{FE3984E4-D1E7-446D-B543-34349E4EF3F4}"/>
              </a:ext>
            </a:extLst>
          </p:cNvPr>
          <p:cNvPicPr>
            <a:picLocks noChangeAspect="1"/>
          </p:cNvPicPr>
          <p:nvPr/>
        </p:nvPicPr>
        <p:blipFill rotWithShape="1">
          <a:blip r:embed="rId7">
            <a:duotone>
              <a:prstClr val="black"/>
              <a:schemeClr val="accent5">
                <a:tint val="45000"/>
                <a:satMod val="400000"/>
              </a:schemeClr>
            </a:duotone>
            <a:alphaModFix amt="25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B59C5D82-A17C-502D-BC8C-EF9ACFC7808E}"/>
              </a:ext>
            </a:extLst>
          </p:cNvPr>
          <p:cNvSpPr>
            <a:spLocks noGrp="1"/>
          </p:cNvSpPr>
          <p:nvPr>
            <p:ph type="title"/>
          </p:nvPr>
        </p:nvSpPr>
        <p:spPr>
          <a:xfrm>
            <a:off x="1154955" y="1447800"/>
            <a:ext cx="8825658" cy="3329581"/>
          </a:xfrm>
        </p:spPr>
        <p:txBody>
          <a:bodyPr vert="horz" lIns="91440" tIns="45720" rIns="91440" bIns="45720" rtlCol="0" anchor="b">
            <a:normAutofit/>
          </a:bodyPr>
          <a:lstStyle/>
          <a:p>
            <a:pPr rtl="0"/>
            <a:r>
              <a:rPr lang="en-US" sz="7200"/>
              <a:t>Thank you</a:t>
            </a:r>
          </a:p>
        </p:txBody>
      </p:sp>
      <p:sp>
        <p:nvSpPr>
          <p:cNvPr id="33" name="Rectangle 19">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450492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117</TotalTime>
  <Words>947</Words>
  <Application>Microsoft Office PowerPoint</Application>
  <PresentationFormat>Widescreen</PresentationFormat>
  <Paragraphs>57</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Century Gothic</vt:lpstr>
      <vt:lpstr>Quincy Bold Italics</vt:lpstr>
      <vt:lpstr>Söhne</vt:lpstr>
      <vt:lpstr>The Seasons</vt:lpstr>
      <vt:lpstr>TimesNewRomanPS-BoldMT</vt:lpstr>
      <vt:lpstr>TimesNewRomanPSMT</vt:lpstr>
      <vt:lpstr>Wingdings 3</vt:lpstr>
      <vt:lpstr>Ion</vt:lpstr>
      <vt:lpstr>Evaluating and Analyzing Global Terrorism  </vt:lpstr>
      <vt:lpstr>Team Work:</vt:lpstr>
      <vt:lpstr>Introduction </vt:lpstr>
      <vt:lpstr>About Data Set</vt:lpstr>
      <vt:lpstr>Problem</vt:lpstr>
      <vt:lpstr>Data Cleaning</vt:lpstr>
      <vt:lpstr>Data Cleaning</vt:lpstr>
      <vt:lpstr>visualization  </vt:lpstr>
      <vt:lpstr>Here we used the barplot for the visualization of  (Number Of Attacks For Each Year) to compare their values. The years on the x-axis while values on y-axis. We can find that latest years we have a lot more of terror attacks.</vt:lpstr>
      <vt:lpstr>Here again we used the barplot for visualization of the (Countries With The Most Attacks) to see the differences between the values each country has For Example (Iraq) had the most terrorism attacks and pakistan in the 2nd place. the name of the country is on the x-axis while count of the attacks on y-axis. </vt:lpstr>
      <vt:lpstr>We plotted the Relation between (Attacks happened each year) with the (region) it happened at using 'area' plot for good frequency plotting.</vt:lpstr>
      <vt:lpstr>Here we found a Relation between the (Attack Type) and (Weapon Used) and also used 'area' plot for good frequency plotting and we can find out like that at kidnapping situation a lot of firearms are used according to the graph. </vt:lpstr>
      <vt:lpstr>This graph to compare which weapons used on different targets.  we used scatter plot just to get the (intersecting part) not for (quantity). From the graph we can find out that explosives and firearms are actually used approximately on every target.</vt:lpstr>
      <vt:lpstr>We used the barplot for visualization of the (number of attacks last 50 yeasr) to compare their values and the (targeted places) targeted places on the x-axis while values on y-axis. From the graph we can find out that transportation is the most targeted place in last 50 years.</vt:lpstr>
      <vt:lpstr>Normalization</vt:lpstr>
      <vt:lpstr>Normaliztion</vt:lpstr>
      <vt:lpstr>Split</vt:lpstr>
      <vt:lpstr>Algorithm</vt:lpstr>
      <vt:lpstr>LinearRegression</vt:lpstr>
      <vt:lpstr>Decision Tree</vt:lpstr>
      <vt:lpstr>Conclusion</vt:lpstr>
      <vt:lpstr>Resources: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عمرو محمد خالد ابراهيم العلوانى</cp:lastModifiedBy>
  <cp:revision>208</cp:revision>
  <dcterms:created xsi:type="dcterms:W3CDTF">2023-05-16T22:44:42Z</dcterms:created>
  <dcterms:modified xsi:type="dcterms:W3CDTF">2023-05-17T21:17:25Z</dcterms:modified>
</cp:coreProperties>
</file>